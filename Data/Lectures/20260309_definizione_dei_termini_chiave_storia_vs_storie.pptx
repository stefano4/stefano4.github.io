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20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B1A1A"/>
          </a:solidFill>
          <a:ln w="12700">
            <a:solidFill>
              <a:srgbClr val="8B1A1A"/>
            </a:solidFill>
            <a:prstDash val="solid"/>
          </a:ln>
        </p:spPr>
      </p:sp>
      <p:sp>
        <p:nvSpPr>
          <p:cNvPr id="3" name="Text 1"/>
          <p:cNvSpPr/>
          <p:nvPr/>
        </p:nvSpPr>
        <p:spPr>
          <a:xfrm>
            <a:off x="640080" y="822960"/>
            <a:ext cx="7863840" cy="2377440"/>
          </a:xfrm>
          <a:prstGeom prst="rect">
            <a:avLst/>
          </a:prstGeom>
          <a:noFill/>
          <a:ln/>
          <a:effectLst>
            <a:outerShdw sx="100000" sy="100000" kx="0" ky="0" algn="bl" rotWithShape="0" blurRad="101600" dist="38100" dir="8100000">
              <a:srgbClr val="000000">
                <a:alpha val="18000"/>
              </a:srgbClr>
            </a:outerShdw>
          </a:effectLst>
        </p:spPr>
        <p:txBody>
          <a:bodyPr wrap="square" rtlCol="0" anchor="t"/>
          <a:lstStyle/>
          <a:p>
            <a:pPr algn="l" indent="0" marL="0">
              <a:buNone/>
            </a:pPr>
            <a:r>
              <a:rPr lang="en-US" sz="4200" b="1" dirty="0">
                <a:solidFill>
                  <a:srgbClr val="F5EFE0"/>
                </a:solidFill>
                <a:latin typeface="Georgia" pitchFamily="34" charset="0"/>
                <a:ea typeface="Georgia" pitchFamily="34" charset="-122"/>
                <a:cs typeface="Georgia" pitchFamily="34" charset="-120"/>
              </a:rPr>
              <a:t>Definizione dei termini chiave: storia vs. storie</a:t>
            </a:r>
            <a:endParaRPr lang="en-US" sz="4200" dirty="0"/>
          </a:p>
        </p:txBody>
      </p:sp>
      <p:sp>
        <p:nvSpPr>
          <p:cNvPr id="4" name="Shape 2"/>
          <p:cNvSpPr/>
          <p:nvPr/>
        </p:nvSpPr>
        <p:spPr>
          <a:xfrm>
            <a:off x="640080" y="3200400"/>
            <a:ext cx="4114800" cy="50292"/>
          </a:xfrm>
          <a:prstGeom prst="rect">
            <a:avLst/>
          </a:prstGeom>
          <a:solidFill>
            <a:srgbClr val="8B1A1A"/>
          </a:solidFill>
          <a:ln w="12700">
            <a:solidFill>
              <a:srgbClr val="8B1A1A"/>
            </a:solidFill>
            <a:prstDash val="solid"/>
          </a:ln>
        </p:spPr>
      </p:sp>
      <p:sp>
        <p:nvSpPr>
          <p:cNvPr id="5" name="Text 3"/>
          <p:cNvSpPr/>
          <p:nvPr/>
        </p:nvSpPr>
        <p:spPr>
          <a:xfrm>
            <a:off x="6858000" y="4800600"/>
            <a:ext cx="2103120" cy="228600"/>
          </a:xfrm>
          <a:prstGeom prst="rect">
            <a:avLst/>
          </a:prstGeom>
          <a:noFill/>
          <a:ln/>
        </p:spPr>
        <p:txBody>
          <a:bodyPr wrap="square" rtlCol="0" anchor="ctr"/>
          <a:lstStyle/>
          <a:p>
            <a:pPr algn="r" indent="0" marL="0">
              <a:buNone/>
            </a:pPr>
            <a:r>
              <a:rPr lang="en-US" sz="800" dirty="0">
                <a:solidFill>
                  <a:srgbClr val="6B5040"/>
                </a:solidFill>
                <a:latin typeface="Calibri" pitchFamily="34" charset="0"/>
                <a:ea typeface="Calibri" pitchFamily="34" charset="-122"/>
                <a:cs typeface="Calibri" pitchFamily="34" charset="-120"/>
              </a:rPr>
              <a:t>Audio Notes Pipeline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C1208"/>
          </a:solidFill>
          <a:ln w="12700">
            <a:solidFill>
              <a:srgbClr val="1C1208"/>
            </a:solidFill>
            <a:prstDash val="solid"/>
          </a:ln>
        </p:spPr>
      </p:sp>
      <p:sp>
        <p:nvSpPr>
          <p:cNvPr id="3" name="Text 1"/>
          <p:cNvSpPr/>
          <p:nvPr/>
        </p:nvSpPr>
        <p:spPr>
          <a:xfrm>
            <a:off x="365760" y="73152"/>
            <a:ext cx="8412480" cy="731520"/>
          </a:xfrm>
          <a:prstGeom prst="rect">
            <a:avLst/>
          </a:prstGeom>
          <a:noFill/>
          <a:ln/>
        </p:spPr>
        <p:txBody>
          <a:bodyPr wrap="square" rtlCol="0" anchor="ctr"/>
          <a:lstStyle/>
          <a:p>
            <a:pPr algn="ctr" indent="0" marL="0">
              <a:buNone/>
            </a:pPr>
            <a:r>
              <a:rPr lang="en-US" sz="2200" b="1" dirty="0">
                <a:solidFill>
                  <a:srgbClr val="F5EFE0"/>
                </a:solidFill>
                <a:latin typeface="Georgia" pitchFamily="34" charset="0"/>
                <a:ea typeface="Georgia" pitchFamily="34" charset="-122"/>
                <a:cs typeface="Georgia" pitchFamily="34" charset="-120"/>
              </a:rPr>
              <a:t>Definizione dei termini chiave: storia vs. storie / Caratteristiche del romanzo storico</a:t>
            </a:r>
            <a:endParaRPr lang="en-US" sz="2200" dirty="0"/>
          </a:p>
        </p:txBody>
      </p:sp>
      <p:sp>
        <p:nvSpPr>
          <p:cNvPr id="4" name="Text 2"/>
          <p:cNvSpPr/>
          <p:nvPr/>
        </p:nvSpPr>
        <p:spPr>
          <a:xfrm>
            <a:off x="274320" y="1005840"/>
            <a:ext cx="4160520" cy="457200"/>
          </a:xfrm>
          <a:prstGeom prst="rect">
            <a:avLst/>
          </a:prstGeom>
          <a:noFill/>
          <a:ln/>
        </p:spPr>
        <p:txBody>
          <a:bodyPr wrap="square" rtlCol="0" anchor="ctr"/>
          <a:lstStyle/>
          <a:p>
            <a:pPr algn="l" indent="0" marL="0">
              <a:buNone/>
            </a:pPr>
            <a:r>
              <a:rPr lang="en-US" sz="1600" b="1" dirty="0">
                <a:solidFill>
                  <a:srgbClr val="8B1A1A"/>
                </a:solidFill>
                <a:latin typeface="Georgia" pitchFamily="34" charset="0"/>
                <a:ea typeface="Georgia" pitchFamily="34" charset="-122"/>
                <a:cs typeface="Georgia" pitchFamily="34" charset="-120"/>
              </a:rPr>
              <a:t>Definizione dei termini chiave: storia vs. storie</a:t>
            </a:r>
            <a:endParaRPr lang="en-US" sz="1600" dirty="0"/>
          </a:p>
        </p:txBody>
      </p:sp>
      <p:sp>
        <p:nvSpPr>
          <p:cNvPr id="5" name="Shape 3"/>
          <p:cNvSpPr/>
          <p:nvPr/>
        </p:nvSpPr>
        <p:spPr>
          <a:xfrm>
            <a:off x="274320" y="1463040"/>
            <a:ext cx="4160520" cy="27432"/>
          </a:xfrm>
          <a:prstGeom prst="rect">
            <a:avLst/>
          </a:prstGeom>
          <a:solidFill>
            <a:srgbClr val="8B1A1A"/>
          </a:solidFill>
          <a:ln w="12700">
            <a:solidFill>
              <a:srgbClr val="8B1A1A"/>
            </a:solidFill>
            <a:prstDash val="solid"/>
          </a:ln>
        </p:spPr>
      </p:sp>
      <p:sp>
        <p:nvSpPr>
          <p:cNvPr id="6" name="Text 4"/>
          <p:cNvSpPr/>
          <p:nvPr/>
        </p:nvSpPr>
        <p:spPr>
          <a:xfrm>
            <a:off x="274320" y="1554480"/>
            <a:ext cx="4160520" cy="3360420"/>
          </a:xfrm>
          <a:prstGeom prst="rect">
            <a:avLst/>
          </a:prstGeom>
          <a:noFill/>
          <a:ln/>
        </p:spPr>
        <p:txBody>
          <a:bodyPr wrap="square" rtlCol="0" anchor="t"/>
          <a:lstStyle/>
          <a:p>
            <a:pPr marL="342900" indent="-342900">
              <a:spcAft>
                <a:spcPts val="400"/>
              </a:spcAft>
              <a:buSzPct val="100000"/>
              <a:buChar char="•"/>
            </a:pPr>
            <a:r>
              <a:rPr lang="en-US" sz="1300" dirty="0">
                <a:solidFill>
                  <a:srgbClr val="3D2B1F"/>
                </a:solidFill>
                <a:latin typeface="Calibri" pitchFamily="34" charset="0"/>
                <a:ea typeface="Calibri" pitchFamily="34" charset="-122"/>
                <a:cs typeface="Calibri" pitchFamily="34" charset="-120"/>
              </a:rPr>
              <a:t>La distinzione tra storia (narrazione sistematica dei viventi umani, politico-militare, esposizione critica dei fatti) e storie (narrazioni specifiche, come novelle, racconti, treccio) è centrale per comprendere il contesto del romanzo storico.</a:t>
            </a:r>
            <a:endParaRPr lang="en-US" sz="1300" dirty="0"/>
          </a:p>
          <a:p>
            <a:pPr marL="342900" indent="-342900">
              <a:spcAft>
                <a:spcPts val="400"/>
              </a:spcAft>
              <a:buSzPct val="100000"/>
              <a:buChar char="•"/>
            </a:pPr>
            <a:r>
              <a:rPr lang="en-US" sz="1300" dirty="0">
                <a:solidFill>
                  <a:srgbClr val="3D2B1F"/>
                </a:solidFill>
                <a:latin typeface="Calibri" pitchFamily="34" charset="0"/>
                <a:ea typeface="Calibri" pitchFamily="34" charset="-122"/>
                <a:cs typeface="Calibri" pitchFamily="34" charset="-120"/>
              </a:rPr>
              <a:t>Storia: termine utilizzato in ambito letterario per indicare storia della letteratura, storia dell'arte, storia del cinema. Definisce una narrazione critica e sistematica dei fatti storici.</a:t>
            </a:r>
            <a:endParaRPr lang="en-US" sz="1300" dirty="0"/>
          </a:p>
          <a:p>
            <a:pPr marL="342900" indent="-342900">
              <a:spcAft>
                <a:spcPts val="400"/>
              </a:spcAft>
              <a:buSzPct val="100000"/>
              <a:buChar char="•"/>
            </a:pPr>
            <a:r>
              <a:rPr lang="en-US" sz="1300" dirty="0">
                <a:solidFill>
                  <a:srgbClr val="3D2B1F"/>
                </a:solidFill>
                <a:latin typeface="Calibri" pitchFamily="34" charset="0"/>
                <a:ea typeface="Calibri" pitchFamily="34" charset="-122"/>
                <a:cs typeface="Calibri" pitchFamily="34" charset="-120"/>
              </a:rPr>
              <a:t>Storie: narrazioni particolari, come novelle, racconti, treccio. Il termine "show story" (usato in alcune traduzioni) è critico per la definizione di novella e racconto, ma il termine italiano preferisce "racconto" per indicare una narrazione breve e essenziale.</a:t>
            </a:r>
            <a:endParaRPr lang="en-US" sz="1300" dirty="0"/>
          </a:p>
        </p:txBody>
      </p:sp>
      <p:sp>
        <p:nvSpPr>
          <p:cNvPr id="7" name="Shape 5"/>
          <p:cNvSpPr/>
          <p:nvPr/>
        </p:nvSpPr>
        <p:spPr>
          <a:xfrm>
            <a:off x="4544568" y="1005840"/>
            <a:ext cx="0" cy="3909060"/>
          </a:xfrm>
          <a:prstGeom prst="line">
            <a:avLst/>
          </a:prstGeom>
          <a:noFill/>
          <a:ln w="12700">
            <a:solidFill>
              <a:srgbClr val="6B5040"/>
            </a:solidFill>
            <a:prstDash val="dash"/>
          </a:ln>
        </p:spPr>
      </p:sp>
      <p:sp>
        <p:nvSpPr>
          <p:cNvPr id="8" name="Text 6"/>
          <p:cNvSpPr/>
          <p:nvPr/>
        </p:nvSpPr>
        <p:spPr>
          <a:xfrm>
            <a:off x="4709160" y="1005840"/>
            <a:ext cx="4160520" cy="457200"/>
          </a:xfrm>
          <a:prstGeom prst="rect">
            <a:avLst/>
          </a:prstGeom>
          <a:noFill/>
          <a:ln/>
        </p:spPr>
        <p:txBody>
          <a:bodyPr wrap="square" rtlCol="0" anchor="ctr"/>
          <a:lstStyle/>
          <a:p>
            <a:pPr algn="l" indent="0" marL="0">
              <a:buNone/>
            </a:pPr>
            <a:r>
              <a:rPr lang="en-US" sz="1600" b="1" dirty="0">
                <a:solidFill>
                  <a:srgbClr val="3D2B1F"/>
                </a:solidFill>
                <a:latin typeface="Georgia" pitchFamily="34" charset="0"/>
                <a:ea typeface="Georgia" pitchFamily="34" charset="-122"/>
                <a:cs typeface="Georgia" pitchFamily="34" charset="-120"/>
              </a:rPr>
              <a:t>Caratteristiche del romanzo storico</a:t>
            </a:r>
            <a:endParaRPr lang="en-US" sz="1600" dirty="0"/>
          </a:p>
        </p:txBody>
      </p:sp>
      <p:sp>
        <p:nvSpPr>
          <p:cNvPr id="9" name="Shape 7"/>
          <p:cNvSpPr/>
          <p:nvPr/>
        </p:nvSpPr>
        <p:spPr>
          <a:xfrm>
            <a:off x="4709160" y="1463040"/>
            <a:ext cx="4160520" cy="27432"/>
          </a:xfrm>
          <a:prstGeom prst="rect">
            <a:avLst/>
          </a:prstGeom>
          <a:solidFill>
            <a:srgbClr val="3D2B1F"/>
          </a:solidFill>
          <a:ln w="12700">
            <a:solidFill>
              <a:srgbClr val="3D2B1F"/>
            </a:solidFill>
            <a:prstDash val="solid"/>
          </a:ln>
        </p:spPr>
      </p:sp>
      <p:sp>
        <p:nvSpPr>
          <p:cNvPr id="10" name="Text 8"/>
          <p:cNvSpPr/>
          <p:nvPr/>
        </p:nvSpPr>
        <p:spPr>
          <a:xfrm>
            <a:off x="4709160" y="1554480"/>
            <a:ext cx="4160520" cy="3360420"/>
          </a:xfrm>
          <a:prstGeom prst="rect">
            <a:avLst/>
          </a:prstGeom>
          <a:noFill/>
          <a:ln/>
        </p:spPr>
        <p:txBody>
          <a:bodyPr wrap="square" rtlCol="0" anchor="t"/>
          <a:lstStyle/>
          <a:p>
            <a:pPr marL="342900" indent="-342900">
              <a:spcAft>
                <a:spcPts val="400"/>
              </a:spcAft>
              <a:buSzPct val="100000"/>
              <a:buChar char="•"/>
            </a:pPr>
            <a:r>
              <a:rPr lang="en-US" sz="1300" dirty="0">
                <a:solidFill>
                  <a:srgbClr val="3D2B1F"/>
                </a:solidFill>
                <a:latin typeface="Calibri" pitchFamily="34" charset="0"/>
                <a:ea typeface="Calibri" pitchFamily="34" charset="-122"/>
                <a:cs typeface="Calibri" pitchFamily="34" charset="-120"/>
              </a:rPr>
              <a:t>Il romanzo storico si distingue per:</a:t>
            </a:r>
            <a:endParaRPr lang="en-US" sz="1300" dirty="0"/>
          </a:p>
          <a:p>
            <a:pPr marL="342900" indent="-342900">
              <a:spcAft>
                <a:spcPts val="400"/>
              </a:spcAft>
              <a:buSzPct val="100000"/>
              <a:buChar char="•"/>
            </a:pPr>
            <a:r>
              <a:rPr lang="en-US" sz="1300" dirty="0">
                <a:solidFill>
                  <a:srgbClr val="3D2B1F"/>
                </a:solidFill>
                <a:latin typeface="Calibri" pitchFamily="34" charset="0"/>
                <a:ea typeface="Calibri" pitchFamily="34" charset="-122"/>
                <a:cs typeface="Calibri" pitchFamily="34" charset="-120"/>
              </a:rPr>
              <a:t>Verosimiglianza: la componente fictionale deve essere verosimile, rispettando il contesto storico. Esempi di inverosimiglianza: opere cinematografiche degli anni Sessanta con elementi anacronistici (es. gladiatori con orologi).</a:t>
            </a:r>
            <a:endParaRPr lang="en-US" sz="1300" dirty="0"/>
          </a:p>
          <a:p>
            <a:pPr marL="342900" indent="-342900">
              <a:spcAft>
                <a:spcPts val="400"/>
              </a:spcAft>
              <a:buSzPct val="100000"/>
              <a:buChar char="•"/>
            </a:pPr>
            <a:r>
              <a:rPr lang="en-US" sz="1300" dirty="0">
                <a:solidFill>
                  <a:srgbClr val="3D2B1F"/>
                </a:solidFill>
                <a:latin typeface="Calibri" pitchFamily="34" charset="0"/>
                <a:ea typeface="Calibri" pitchFamily="34" charset="-122"/>
                <a:cs typeface="Calibri" pitchFamily="34" charset="-120"/>
              </a:rPr>
              <a:t>Funzione metastorica: il passato viene presentato per riflettere sul presente. "Quando si parla del passato si parla del presente".</a:t>
            </a:r>
            <a:endParaRPr lang="en-US" sz="1300" dirty="0"/>
          </a:p>
          <a:p>
            <a:pPr marL="342900" indent="-342900">
              <a:spcAft>
                <a:spcPts val="400"/>
              </a:spcAft>
              <a:buSzPct val="100000"/>
              <a:buChar char="•"/>
            </a:pPr>
            <a:r>
              <a:rPr lang="en-US" sz="1300" dirty="0">
                <a:solidFill>
                  <a:srgbClr val="3D2B1F"/>
                </a:solidFill>
                <a:latin typeface="Calibri" pitchFamily="34" charset="0"/>
                <a:ea typeface="Calibri" pitchFamily="34" charset="-122"/>
                <a:cs typeface="Calibri" pitchFamily="34" charset="-120"/>
              </a:rPr>
              <a:t>Riflessione critica sulla società: il narratore esterno (tipico del romanzo storico) esprime opinioni e riflessioni sulla società contemporanea.</a:t>
            </a:r>
            <a:endParaRPr lang="en-US" sz="1300" dirty="0"/>
          </a:p>
          <a:p>
            <a:pPr marL="342900" indent="-342900">
              <a:spcAft>
                <a:spcPts val="400"/>
              </a:spcAft>
              <a:buSzPct val="100000"/>
              <a:buChar char="•"/>
            </a:pPr>
            <a:r>
              <a:rPr lang="en-US" sz="1300" dirty="0">
                <a:solidFill>
                  <a:srgbClr val="3D2B1F"/>
                </a:solidFill>
                <a:latin typeface="Calibri" pitchFamily="34" charset="0"/>
                <a:ea typeface="Calibri" pitchFamily="34" charset="-122"/>
                <a:cs typeface="Calibri" pitchFamily="34" charset="-120"/>
              </a:rPr>
              <a:t>Sugo della storia: concetto manzoniano che indica l'elemento morale centrale di un'opera storica, spesso affidato alla popolana (es. nel Come si sposi di Manzoni).</a:t>
            </a:r>
            <a:endParaRPr lang="en-US" sz="1300" dirty="0"/>
          </a:p>
        </p:txBody>
      </p:sp>
      <p:sp>
        <p:nvSpPr>
          <p:cNvPr id="11" name="Text 9"/>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Origini del romanzo storico italiano (Ottocento)</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Il romanzo storico in Italia nasce all'inizio dell'Ottocento con due opere fondamentali: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Foscolo (1802): L'ultimo dei Jacopo Ortis (dottorato).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Manzoni (1827): Il ventisette (prima edizione del romanzo), e La quarantana (1840), con l'appendice Storia della colonna infame.</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La quarantana (1840) è considerata un'opera fondamentale per il suo approccio alla verosimiglianza e alla funzione morale. Manzoni afferma che "l'opera letteraria deve essere verosimile", con personaggi che "rispondono perfettamente al contesto della situazione".</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Princìpi teorici di Manzoni</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Manzoni stabilisce tre criteri fondamentali per il romanzo storico: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Verosimiglianza: i personaggi devono essere verosimili, rispettando il contesto storico (es. Renzo e Lucia, popolani seicenteschi/ottocenteschi).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Fine morale: l'opera deve educare il lettore, promuovendo valori condivisi e un'idea di società.</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Popolarità: la letteratura deve essere accessibile e leggibile, senza essere "bassa" o "trash". Manzoni afferma che "la letteratura deve essere popolare" (non bassa, ma comprensibile).</a:t>
            </a:r>
            <a:endParaRPr lang="en-US" sz="1400" dirty="0"/>
          </a:p>
        </p:txBody>
      </p:sp>
      <p:sp>
        <p:nvSpPr>
          <p:cNvPr id="6" name="Shape 4"/>
          <p:cNvSpPr/>
          <p:nvPr/>
        </p:nvSpPr>
        <p:spPr>
          <a:xfrm>
            <a:off x="320040" y="4137660"/>
            <a:ext cx="8641080" cy="868680"/>
          </a:xfrm>
          <a:prstGeom prst="rect">
            <a:avLst/>
          </a:prstGeom>
          <a:solidFill>
            <a:srgbClr val="8B1A1A">
              <a:alpha val="12000"/>
            </a:srgbClr>
          </a:solidFill>
          <a:ln w="19050">
            <a:solidFill>
              <a:srgbClr val="8B1A1A"/>
            </a:solidFill>
            <a:prstDash val="solid"/>
          </a:ln>
        </p:spPr>
      </p:sp>
      <p:sp>
        <p:nvSpPr>
          <p:cNvPr id="7" name="Text 5"/>
          <p:cNvSpPr/>
          <p:nvPr/>
        </p:nvSpPr>
        <p:spPr>
          <a:xfrm>
            <a:off x="457200" y="4192524"/>
            <a:ext cx="8412480" cy="758952"/>
          </a:xfrm>
          <a:prstGeom prst="rect">
            <a:avLst/>
          </a:prstGeom>
          <a:noFill/>
          <a:ln/>
        </p:spPr>
        <p:txBody>
          <a:bodyPr wrap="square" rtlCol="0" anchor="ctr"/>
          <a:lstStyle/>
          <a:p>
            <a:pPr algn="ctr" indent="0" marL="0">
              <a:buNone/>
            </a:pPr>
            <a:r>
              <a:rPr lang="en-US" sz="1200" i="1" dirty="0">
                <a:solidFill>
                  <a:srgbClr val="8B1A1A"/>
                </a:solidFill>
                <a:latin typeface="Georgia" pitchFamily="34" charset="0"/>
                <a:ea typeface="Georgia" pitchFamily="34" charset="-122"/>
                <a:cs typeface="Georgia" pitchFamily="34" charset="-120"/>
              </a:rPr>
              <a:t>""La letteratura deve essere popolare. Tutti devono capire. Perché se non capiscono, l'opera non</a:t>
            </a:r>
            <a:endParaRPr lang="en-US" sz="1200" dirty="0"/>
          </a:p>
          <a:p>
            <a:pPr algn="ctr" indent="0" marL="0">
              <a:buNone/>
            </a:pPr>
            <a:r>
              <a:rPr lang="en-US" sz="1200" i="1" dirty="0">
                <a:solidFill>
                  <a:srgbClr val="8B1A1A"/>
                </a:solidFill>
                <a:latin typeface="Georgia" pitchFamily="34" charset="0"/>
                <a:ea typeface="Georgia" pitchFamily="34" charset="-122"/>
                <a:cs typeface="Georgia" pitchFamily="34" charset="-120"/>
              </a:rPr>
              <a:t>serve a niente." — Manzoni."</a:t>
            </a:r>
            <a:endParaRPr lang="en-US" sz="1200" dirty="0"/>
          </a:p>
        </p:txBody>
      </p:sp>
      <p:sp>
        <p:nvSpPr>
          <p:cNvPr id="8" name="Text 6"/>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Esempi moderni di romanzo storico</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Gli autori contemporanei che continuano la tradizione del romanzo storico italiano includono: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Sebastiano Vassalli (1980-2000s):</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La notte della cometa (1984): ambientazione tra fine Ottocento e fine Novecento.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Marche e Marchio (1992): ambientato tra il 700 e il 800, in Venezia.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Il Cigno (1993): ambientato in Sicilia, Firenze, Venezia, Palermo.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Stella Velenata (2003): opera fondamentale per la sua riflessione sulla storia italiana.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Bassali (2000s):</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La Chimera: romanzo che utilizza un paesaggio indefinibile (riferimento al Monte Rosa) e un narratore esterno per analizzare la società contemporanea.</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La Chimera di Bassali: analisi critica</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La Chimera di Bassali si distingue per:</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Titolo: derivato da "punta rosa", riferimento alla visione onirica del Monte Rosa.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Ambientazione: un paesaggio indefinibile, simbolico del "macigno bianco" (Monte Rosa).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Riferimenti storici: immigrazione, grande guerra, manicomi, riferimenti a Dino Campana.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Tema centrale: l'analisi della società contemporanea attraverso il passato. Il romanzo utilizza un narratore esterno per esprimere riflessioni critiche sulla società.</a:t>
            </a:r>
            <a:endParaRPr lang="en-US" sz="1400" dirty="0"/>
          </a:p>
        </p:txBody>
      </p:sp>
      <p:sp>
        <p:nvSpPr>
          <p:cNvPr id="6" name="Shape 4"/>
          <p:cNvSpPr/>
          <p:nvPr/>
        </p:nvSpPr>
        <p:spPr>
          <a:xfrm>
            <a:off x="320040" y="4137660"/>
            <a:ext cx="8641080" cy="868680"/>
          </a:xfrm>
          <a:prstGeom prst="rect">
            <a:avLst/>
          </a:prstGeom>
          <a:solidFill>
            <a:srgbClr val="8B1A1A">
              <a:alpha val="12000"/>
            </a:srgbClr>
          </a:solidFill>
          <a:ln w="19050">
            <a:solidFill>
              <a:srgbClr val="8B1A1A"/>
            </a:solidFill>
            <a:prstDash val="solid"/>
          </a:ln>
        </p:spPr>
      </p:sp>
      <p:sp>
        <p:nvSpPr>
          <p:cNvPr id="7" name="Text 5"/>
          <p:cNvSpPr/>
          <p:nvPr/>
        </p:nvSpPr>
        <p:spPr>
          <a:xfrm>
            <a:off x="457200" y="4192524"/>
            <a:ext cx="8412480" cy="758952"/>
          </a:xfrm>
          <a:prstGeom prst="rect">
            <a:avLst/>
          </a:prstGeom>
          <a:noFill/>
          <a:ln/>
        </p:spPr>
        <p:txBody>
          <a:bodyPr wrap="square" rtlCol="0" anchor="ctr"/>
          <a:lstStyle/>
          <a:p>
            <a:pPr algn="ctr" indent="0" marL="0">
              <a:buNone/>
            </a:pPr>
            <a:r>
              <a:rPr lang="en-US" sz="1200" i="1" dirty="0">
                <a:solidFill>
                  <a:srgbClr val="8B1A1A"/>
                </a:solidFill>
                <a:latin typeface="Georgia" pitchFamily="34" charset="0"/>
                <a:ea typeface="Georgia" pitchFamily="34" charset="-122"/>
                <a:cs typeface="Georgia" pitchFamily="34" charset="-120"/>
              </a:rPr>
              <a:t>""Il passato viene presentato per parlare del presente. Quando si parla del passato si parla del</a:t>
            </a:r>
            <a:endParaRPr lang="en-US" sz="1200" dirty="0"/>
          </a:p>
          <a:p>
            <a:pPr algn="ctr" indent="0" marL="0">
              <a:buNone/>
            </a:pPr>
            <a:r>
              <a:rPr lang="en-US" sz="1200" i="1" dirty="0">
                <a:solidFill>
                  <a:srgbClr val="8B1A1A"/>
                </a:solidFill>
                <a:latin typeface="Georgia" pitchFamily="34" charset="0"/>
                <a:ea typeface="Georgia" pitchFamily="34" charset="-122"/>
                <a:cs typeface="Georgia" pitchFamily="34" charset="-120"/>
              </a:rPr>
              <a:t>presente." — Bassali."</a:t>
            </a:r>
            <a:endParaRPr lang="en-US" sz="1200" dirty="0"/>
          </a:p>
        </p:txBody>
      </p:sp>
      <p:sp>
        <p:nvSpPr>
          <p:cNvPr id="8" name="Text 6"/>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La Chimera di Giovanni Bassani: Analisi del Romanzo Storico</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**Contesto Storico e Immagini Simboliche**</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Titolo e origine: La Chimera prende il nome da punta rosa, un riferimento alla sua ambientazione indefinibile e alla sua natura metaforica.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Ambientazione: Il romanzo si sviluppa in un paesaggio chimetico (metaforico), con il Monte Rosa come immagine centrale. L’autore descrive il Monte Rosa come un “macino bianco” visibile a lontano, simbolo di un orizzonte irraggiungibile nel contesto storico di Zardino.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Zardino: Villaggio immaginario, parte della bassa Lombardia, distrutto dalle acque del fiume nel corso del tempo. È un luogo che non esiste più, ma che rimane segnato nella memoria storica.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Riferimenti critici: La presenza di Dino Campana e il riferimento al Monte Rosa (in particolare il suo rapporto con il viaggio di Orino) sono elementi chiave per comprendere l’immagine onirica e simbolica del paesaggio.</a:t>
            </a:r>
            <a:endParaRPr lang="en-US" sz="1400" dirty="0"/>
          </a:p>
          <a:p>
            <a:pPr marL="342900" indent="-342900">
              <a:spcAft>
                <a:spcPts val="400"/>
              </a:spcAft>
              <a:buSzPct val="100000"/>
              <a:buChar char="•"/>
            </a:pPr>
            <a:r>
              <a:rPr lang="en-US" sz="1400" b="1" dirty="0">
                <a:solidFill>
                  <a:srgbClr val="3D2B1F"/>
                </a:solidFill>
                <a:latin typeface="Calibri" pitchFamily="34" charset="0"/>
                <a:ea typeface="Calibri" pitchFamily="34" charset="-122"/>
                <a:cs typeface="Calibri" pitchFamily="34" charset="-120"/>
              </a:rPr>
              <a:t>**Struttura Narrativa e Tecniche**</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Narratore esterno: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Il narratore di La Chimera è un elemento fondamentale, interviene continuamente esprimendo opinioni e analisi critiche.</a:t>
            </a:r>
            <a:endParaRPr lang="en-US" sz="1400" dirty="0"/>
          </a:p>
        </p:txBody>
      </p:sp>
      <p:sp>
        <p:nvSpPr>
          <p:cNvPr id="6" name="Shape 4"/>
          <p:cNvSpPr/>
          <p:nvPr/>
        </p:nvSpPr>
        <p:spPr>
          <a:xfrm>
            <a:off x="320040" y="4137660"/>
            <a:ext cx="8641080" cy="868680"/>
          </a:xfrm>
          <a:prstGeom prst="rect">
            <a:avLst/>
          </a:prstGeom>
          <a:solidFill>
            <a:srgbClr val="8B1A1A">
              <a:alpha val="12000"/>
            </a:srgbClr>
          </a:solidFill>
          <a:ln w="19050">
            <a:solidFill>
              <a:srgbClr val="8B1A1A"/>
            </a:solidFill>
            <a:prstDash val="solid"/>
          </a:ln>
        </p:spPr>
      </p:sp>
      <p:sp>
        <p:nvSpPr>
          <p:cNvPr id="7" name="Text 5"/>
          <p:cNvSpPr/>
          <p:nvPr/>
        </p:nvSpPr>
        <p:spPr>
          <a:xfrm>
            <a:off x="457200" y="4192524"/>
            <a:ext cx="8412480" cy="758952"/>
          </a:xfrm>
          <a:prstGeom prst="rect">
            <a:avLst/>
          </a:prstGeom>
          <a:noFill/>
          <a:ln/>
        </p:spPr>
        <p:txBody>
          <a:bodyPr wrap="square" rtlCol="0" anchor="ctr"/>
          <a:lstStyle/>
          <a:p>
            <a:pPr algn="ctr" indent="0" marL="0">
              <a:buNone/>
            </a:pPr>
            <a:r>
              <a:rPr lang="en-US" sz="1200" i="1" dirty="0">
                <a:solidFill>
                  <a:srgbClr val="8B1A1A"/>
                </a:solidFill>
                <a:latin typeface="Georgia" pitchFamily="34" charset="0"/>
                <a:ea typeface="Georgia" pitchFamily="34" charset="-122"/>
                <a:cs typeface="Georgia" pitchFamily="34" charset="-120"/>
              </a:rPr>
              <a:t>"*“Manzoni distingue in quella celebrare in un’incipit il ruolo del storico e il ruolo della</a:t>
            </a:r>
            <a:endParaRPr lang="en-US" sz="1200" dirty="0"/>
          </a:p>
          <a:p>
            <a:pPr algn="ctr" indent="0" marL="0">
              <a:buNone/>
            </a:pPr>
            <a:r>
              <a:rPr lang="en-US" sz="1200" i="1" dirty="0">
                <a:solidFill>
                  <a:srgbClr val="8B1A1A"/>
                </a:solidFill>
                <a:latin typeface="Georgia" pitchFamily="34" charset="0"/>
                <a:ea typeface="Georgia" pitchFamily="34" charset="-122"/>
                <a:cs typeface="Georgia" pitchFamily="34" charset="-120"/>
              </a:rPr>
              <a:t>romanziera. Dicendo che il conflitto dello storico è quello di sottrarre la storia all’oblio. Il</a:t>
            </a:r>
            <a:endParaRPr lang="en-US" sz="1200" dirty="0"/>
          </a:p>
          <a:p>
            <a:pPr algn="ctr" indent="0" marL="0">
              <a:buNone/>
            </a:pPr>
            <a:r>
              <a:rPr lang="en-US" sz="1200" i="1" dirty="0">
                <a:solidFill>
                  <a:srgbClr val="8B1A1A"/>
                </a:solidFill>
                <a:latin typeface="Georgia" pitchFamily="34" charset="0"/>
                <a:ea typeface="Georgia" pitchFamily="34" charset="-122"/>
                <a:cs typeface="Georgia" pitchFamily="34" charset="-120"/>
              </a:rPr>
              <a:t>ruolo della romanziera è quello di trovare dentro la storia maggiore delle storie da raccontare al</a:t>
            </a:r>
            <a:endParaRPr lang="en-US" sz="1200" dirty="0"/>
          </a:p>
          <a:p>
            <a:pPr algn="ctr" indent="0" marL="0">
              <a:buNone/>
            </a:pPr>
            <a:r>
              <a:rPr lang="en-US" sz="1200" i="1" dirty="0">
                <a:solidFill>
                  <a:srgbClr val="8B1A1A"/>
                </a:solidFill>
                <a:latin typeface="Georgia" pitchFamily="34" charset="0"/>
                <a:ea typeface="Georgia" pitchFamily="34" charset="-122"/>
                <a:cs typeface="Georgia" pitchFamily="34" charset="-120"/>
              </a:rPr>
              <a:t>fine di la legge del Tavoli.”*"</a:t>
            </a:r>
            <a:endParaRPr lang="en-US" sz="1200" dirty="0"/>
          </a:p>
        </p:txBody>
      </p:sp>
      <p:sp>
        <p:nvSpPr>
          <p:cNvPr id="8" name="Text 6"/>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Personaggi Storici Reali nel Romanzo</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Bascapè, Manini, Bernardo Sasso, Boia, Carlo Romero (avo di Federico Romero) sono personaggi realmente esistiti che vengono integrati nel romanzo con un tocco di romanzesco.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Caccetta, un bandito storico, è il modello ispiratore del personaggio Don Teresio, descritto come "ribaldo" (bandit) e oggetto di un doppio incontro tra storia reale e narrativa.</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Personaggi Documentati negli Atti del Processo</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Antonio è un testimone documentato negli atti del processo, che non può testimoniare a causa della sua natura di villano (termine corretto da "vide" nel testo).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Gasparo, amante di Antonia, è presentato come personaggio squalico (squalido) e camminante (termine usato per descrivere un personaggio che non partecipa attivamente alla narrazione), che non testimonia per evitare la caduta dell'ipotesi che Antonia si incontra con il sabato (giorno di aria).</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Analisi dei "Perpetratori" e "Carnecci"</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 perpetratori (o "carnecci") sono descritti come servi di potere che violano, stuprano e causano danni fisici e psicologici.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Antonia è vittima di questi personaggi, che operano in modo violento e arbitrario, senza rispetto per la dignità umana.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Il narratore Bassagliani critica duramente questi personaggi, sottolineando la loro natura di violenti e squalmi (termine per descrivere persone sgradevoli).</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Il Ruolo degli "Exclusus" e il Contesto Storico</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Gli exclusus (persone escluse dal sistema sociale) sono numerosi e permettono al romanzo di essere collocato nel contesto storico e socio-economico.</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Esempi: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Novara, città guarnigione con soldati che creano disordine e "franciume" (persone senza famiglia o bambini).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Quistoni (personaggi problematici) che operavano nel contesto pre-vaticano, con un atteggiamento "troveranza" (sospetto) nei confronti dei non preti che esercitavano i ceri preti a Zardini.</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Corti santi (corti religiose) coinvolte nella compravendita di falsereglie (documenti falsi).</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Esempi Specifici di "Scursi" (Excursus) nel Testo</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Capitolo decimo: dedicato a Don Teresio (ispirato a Caccetta).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Capitolo undicesimo: analisi della storia di Caccetta.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Capitoli dodicesimi: riflessione sui corti santi e la compravendita di falsereglie.</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Il personaggio "Viaggio": un ragazzo adottato da due suore, che si innamora di Antonia e viene etichettato come "strega" (termine usato per descrivere una persona considerata malevola).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Capitolo trentesimo: descrizione dell'incendio di Antonia, con la folla che assiste alla sua bruciatura.</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8B1A1A"/>
          </a:solidFill>
          <a:ln w="12700">
            <a:solidFill>
              <a:srgbClr val="8B1A1A"/>
            </a:solidFill>
            <a:prstDash val="solid"/>
          </a:ln>
        </p:spPr>
      </p:sp>
      <p:sp>
        <p:nvSpPr>
          <p:cNvPr id="3" name="Shape 1"/>
          <p:cNvSpPr/>
          <p:nvPr/>
        </p:nvSpPr>
        <p:spPr>
          <a:xfrm>
            <a:off x="109728" y="0"/>
            <a:ext cx="9034272" cy="960120"/>
          </a:xfrm>
          <a:prstGeom prst="rect">
            <a:avLst/>
          </a:prstGeom>
          <a:solidFill>
            <a:srgbClr val="EDE3CC"/>
          </a:solidFill>
          <a:ln w="12700">
            <a:solidFill>
              <a:srgbClr val="EDE3CC"/>
            </a:solidFill>
            <a:prstDash val="solid"/>
          </a:ln>
        </p:spPr>
      </p:sp>
      <p:sp>
        <p:nvSpPr>
          <p:cNvPr id="4" name="Text 2"/>
          <p:cNvSpPr/>
          <p:nvPr/>
        </p:nvSpPr>
        <p:spPr>
          <a:xfrm>
            <a:off x="320040" y="109728"/>
            <a:ext cx="8641080" cy="777240"/>
          </a:xfrm>
          <a:prstGeom prst="rect">
            <a:avLst/>
          </a:prstGeom>
          <a:noFill/>
          <a:ln/>
        </p:spPr>
        <p:txBody>
          <a:bodyPr wrap="square" lIns="0" tIns="0" rIns="0" bIns="0" rtlCol="0" anchor="ctr"/>
          <a:lstStyle/>
          <a:p>
            <a:pPr algn="l" indent="0" marL="0">
              <a:buNone/>
            </a:pPr>
            <a:r>
              <a:rPr lang="en-US" sz="2600" b="1" dirty="0">
                <a:solidFill>
                  <a:srgbClr val="1C1208"/>
                </a:solidFill>
                <a:latin typeface="Georgia" pitchFamily="34" charset="0"/>
                <a:ea typeface="Georgia" pitchFamily="34" charset="-122"/>
                <a:cs typeface="Georgia" pitchFamily="34" charset="-120"/>
              </a:rPr>
              <a:t>L'Interazione tra Narratore e Lettore</a:t>
            </a:r>
            <a:endParaRPr lang="en-US" sz="2600" dirty="0"/>
          </a:p>
        </p:txBody>
      </p:sp>
      <p:sp>
        <p:nvSpPr>
          <p:cNvPr id="5" name="Text 3"/>
          <p:cNvSpPr/>
          <p:nvPr/>
        </p:nvSpPr>
        <p:spPr>
          <a:xfrm>
            <a:off x="411480" y="1078992"/>
            <a:ext cx="8458200" cy="3863340"/>
          </a:xfrm>
          <a:prstGeom prst="rect">
            <a:avLst/>
          </a:prstGeom>
          <a:noFill/>
          <a:ln/>
        </p:spPr>
        <p:txBody>
          <a:bodyPr wrap="square" lIns="0" tIns="101600" rIns="0" bIns="0" rtlCol="0" anchor="t"/>
          <a:lstStyle/>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Bassagliani interviene continuamente nel testo per criticare la ferocità umana, il bigottismo e l'intervento della folla.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L'ultimo capitolo (30) culmina con l'immagine della bruciatura di Antonia, che diventa un simbolo di annichilimento e nulla.</a:t>
            </a:r>
            <a:endParaRPr lang="en-US" sz="1400" dirty="0"/>
          </a:p>
          <a:p>
            <a:pPr marL="342900" indent="-342900">
              <a:spcAft>
                <a:spcPts val="400"/>
              </a:spcAft>
              <a:buSzPct val="100000"/>
              <a:buChar char="•"/>
            </a:pPr>
            <a:r>
              <a:rPr lang="en-US" sz="1400" dirty="0">
                <a:solidFill>
                  <a:srgbClr val="3D2B1F"/>
                </a:solidFill>
                <a:latin typeface="Calibri" pitchFamily="34" charset="0"/>
                <a:ea typeface="Calibri" pitchFamily="34" charset="-122"/>
                <a:cs typeface="Calibri" pitchFamily="34" charset="-120"/>
              </a:rPr>
              <a:t>Il narratore sottolinea come la società moderna (in particolare i social media) rifletta la stessa tendenza all'odio senza conoscenza del soggetto.</a:t>
            </a:r>
            <a:endParaRPr lang="en-US" sz="14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C1208"/>
        </a:solidFill>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rtlCol="0" anchor="ctr"/>
          <a:lstStyle/>
          <a:p>
            <a:pPr algn="ctr" indent="0" marL="0">
              <a:buNone/>
            </a:pPr>
            <a:r>
              <a:rPr lang="en-US" sz="1000" spc="400" kern="0" dirty="0">
                <a:solidFill>
                  <a:srgbClr val="6B5040"/>
                </a:solidFill>
                <a:latin typeface="Calibri" pitchFamily="34" charset="0"/>
                <a:ea typeface="Calibri" pitchFamily="34" charset="-122"/>
                <a:cs typeface="Calibri" pitchFamily="34" charset="-120"/>
              </a:rPr>
              <a:t>CONCLUSIONE</a:t>
            </a:r>
            <a:endParaRPr lang="en-US" sz="1000" dirty="0"/>
          </a:p>
        </p:txBody>
      </p:sp>
      <p:sp>
        <p:nvSpPr>
          <p:cNvPr id="3" name="Text 1"/>
          <p:cNvSpPr/>
          <p:nvPr/>
        </p:nvSpPr>
        <p:spPr>
          <a:xfrm>
            <a:off x="548640" y="685800"/>
            <a:ext cx="8046720" cy="3200400"/>
          </a:xfrm>
          <a:prstGeom prst="rect">
            <a:avLst/>
          </a:prstGeom>
          <a:noFill/>
          <a:ln/>
          <a:effectLst>
            <a:outerShdw sx="100000" sy="100000" kx="0" ky="0" algn="bl" rotWithShape="0" blurRad="101600" dist="38100" dir="8100000">
              <a:srgbClr val="000000">
                <a:alpha val="18000"/>
              </a:srgbClr>
            </a:outerShdw>
          </a:effectLst>
        </p:spPr>
        <p:txBody>
          <a:bodyPr wrap="square" rtlCol="0" anchor="ctr"/>
          <a:lstStyle/>
          <a:p>
            <a:pPr algn="ctr" indent="0" marL="0">
              <a:buNone/>
            </a:pPr>
            <a:r>
              <a:rPr lang="en-US" sz="2600" dirty="0">
                <a:solidFill>
                  <a:srgbClr val="F5EFE0"/>
                </a:solidFill>
                <a:latin typeface="Georgia" pitchFamily="34" charset="0"/>
                <a:ea typeface="Georgia" pitchFamily="34" charset="-122"/>
                <a:cs typeface="Georgia" pitchFamily="34" charset="-120"/>
              </a:rPr>
              <a:t>Francesca Marciano, autrice di Casa Rossa (2002), afferma che il romanzo è un insegnamento per imparare a leggere la storia come la nostra storia.</a:t>
            </a:r>
            <a:endParaRPr lang="en-US" sz="2600" dirty="0"/>
          </a:p>
          <a:p>
            <a:pPr algn="ctr" indent="0" marL="0">
              <a:buNone/>
            </a:pPr>
            <a:endParaRPr lang="en-US" sz="2600" dirty="0"/>
          </a:p>
          <a:p>
            <a:pPr algn="ctr" indent="0" marL="0">
              <a:buNone/>
            </a:pPr>
            <a:r>
              <a:rPr lang="en-US" sz="2600" dirty="0">
                <a:solidFill>
                  <a:srgbClr val="F5EFE0"/>
                </a:solidFill>
                <a:latin typeface="Georgia" pitchFamily="34" charset="0"/>
                <a:ea typeface="Georgia" pitchFamily="34" charset="-122"/>
                <a:cs typeface="Georgia" pitchFamily="34" charset="-120"/>
              </a:rPr>
              <a:t>Bassagliani propone un insegnamento fondamentale: "bisogna imparare a raccontare sempre e bisogna imparare la storia di Antonio perché se si impara la storia di Antonio la malvagità non ti opera più in qualunque veste si presenti".</a:t>
            </a:r>
            <a:endParaRPr lang="en-US" sz="2600" dirty="0"/>
          </a:p>
        </p:txBody>
      </p:sp>
      <p:sp>
        <p:nvSpPr>
          <p:cNvPr id="4" name="Shape 2"/>
          <p:cNvSpPr/>
          <p:nvPr/>
        </p:nvSpPr>
        <p:spPr>
          <a:xfrm>
            <a:off x="2286000" y="4137660"/>
            <a:ext cx="4572000" cy="50292"/>
          </a:xfrm>
          <a:prstGeom prst="rect">
            <a:avLst/>
          </a:prstGeom>
          <a:solidFill>
            <a:srgbClr val="8B1A1A"/>
          </a:solidFill>
          <a:ln w="12700">
            <a:solidFill>
              <a:srgbClr val="8B1A1A"/>
            </a:solidFill>
            <a:prstDash val="solid"/>
          </a:ln>
        </p:spPr>
      </p:sp>
      <p:sp>
        <p:nvSpPr>
          <p:cNvPr id="5" name="Text 3"/>
          <p:cNvSpPr/>
          <p:nvPr/>
        </p:nvSpPr>
        <p:spPr>
          <a:xfrm>
            <a:off x="640080" y="4229100"/>
            <a:ext cx="7863840" cy="685800"/>
          </a:xfrm>
          <a:prstGeom prst="rect">
            <a:avLst/>
          </a:prstGeom>
          <a:noFill/>
          <a:ln/>
        </p:spPr>
        <p:txBody>
          <a:bodyPr wrap="square" rtlCol="0" anchor="ctr"/>
          <a:lstStyle/>
          <a:p>
            <a:pPr algn="ctr" indent="0" marL="0">
              <a:buNone/>
            </a:pPr>
            <a:r>
              <a:rPr lang="en-US" sz="1300" i="1" dirty="0">
                <a:solidFill>
                  <a:srgbClr val="6B5040"/>
                </a:solidFill>
                <a:latin typeface="Calibri" pitchFamily="34" charset="0"/>
                <a:ea typeface="Calibri" pitchFamily="34" charset="-122"/>
                <a:cs typeface="Calibri" pitchFamily="34" charset="-120"/>
              </a:rPr>
              <a:t>""Questa storia non è più la storia della tua famiglia. Questa storia ci riguarda tutti. È la nostra storia, la storia di una generazione che ha fatto finta di nulla che si è svegliata quando è passato tutto.""</a:t>
            </a:r>
            <a:endParaRPr lang="en-US" sz="1300" dirty="0"/>
          </a:p>
        </p:txBody>
      </p:sp>
      <p:sp>
        <p:nvSpPr>
          <p:cNvPr id="6" name="Text 4"/>
          <p:cNvSpPr/>
          <p:nvPr/>
        </p:nvSpPr>
        <p:spPr>
          <a:xfrm>
            <a:off x="6858000" y="4892040"/>
            <a:ext cx="2103120" cy="182880"/>
          </a:xfrm>
          <a:prstGeom prst="rect">
            <a:avLst/>
          </a:prstGeom>
          <a:noFill/>
          <a:ln/>
        </p:spPr>
        <p:txBody>
          <a:bodyPr wrap="square" rtlCol="0" anchor="ctr"/>
          <a:lstStyle/>
          <a:p>
            <a:pPr algn="r" indent="0" marL="0">
              <a:buNone/>
            </a:pPr>
            <a:r>
              <a:rPr lang="en-US" sz="700" dirty="0">
                <a:solidFill>
                  <a:srgbClr val="6B5040"/>
                </a:solidFill>
                <a:latin typeface="Calibri" pitchFamily="34" charset="0"/>
                <a:ea typeface="Calibri" pitchFamily="34" charset="-122"/>
                <a:cs typeface="Calibri" pitchFamily="34" charset="-120"/>
              </a:rPr>
              <a:t>Audio Notes Pipeline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Definizione dei termini chiave: storia vs. storie</dc:title>
  <dc:subject>Lecture Notes</dc:subject>
  <dc:creator>Audio Notes Pipeline</dc:creator>
  <cp:lastModifiedBy>Audio Notes Pipeline</cp:lastModifiedBy>
  <cp:revision>1</cp:revision>
  <dcterms:created xsi:type="dcterms:W3CDTF">2026-03-10T16:21:13Z</dcterms:created>
  <dcterms:modified xsi:type="dcterms:W3CDTF">2026-03-10T16:21:13Z</dcterms:modified>
</cp:coreProperties>
</file>