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2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822960"/>
            <a:ext cx="7863840" cy="2377440"/>
          </a:xfrm>
          <a:prstGeom prst="rect">
            <a:avLst/>
          </a:prstGeom>
          <a:noFill/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5E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Introduzione ai Termini Fondamentali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3200400"/>
            <a:ext cx="4114800" cy="50292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0" y="480060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5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Notes Pipeline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EF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960120"/>
          </a:xfrm>
          <a:prstGeom prst="rect">
            <a:avLst/>
          </a:prstGeom>
          <a:solidFill>
            <a:srgbClr val="EDE3CC"/>
          </a:solidFill>
          <a:ln w="12700">
            <a:solidFill>
              <a:srgbClr val="EDE3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09728"/>
            <a:ext cx="8641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12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Introduzione ai Termini Fondamentali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1078992"/>
            <a:ext cx="8458200" cy="3863340"/>
          </a:xfrm>
          <a:prstGeom prst="rect">
            <a:avLst/>
          </a:prstGeom>
          <a:noFill/>
          <a:ln/>
        </p:spPr>
        <p:txBody>
          <a:bodyPr wrap="square" lIns="0" tIns="10160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Storia (termine accademico): narrazione sistematica dei viventi umani, con elementi politico-luttuosi, esposizione critica dei fatti. Si applica a storia della letteratura, storia dell'arte, storia del cinema.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Storie (termine più ampio): narrazioni specifiche, come racconti, novelle, romanzi. Si distingue da "storia" per la sua natura più breve e focalizzata.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0" y="4892040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5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Notes Pipeline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EF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960120"/>
          </a:xfrm>
          <a:prstGeom prst="rect">
            <a:avLst/>
          </a:prstGeom>
          <a:solidFill>
            <a:srgbClr val="EDE3CC"/>
          </a:solidFill>
          <a:ln w="12700">
            <a:solidFill>
              <a:srgbClr val="EDE3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09728"/>
            <a:ext cx="8641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12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Origini del Romanzo Storico Italiano (Ottocento)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1078992"/>
            <a:ext cx="8458200" cy="3863340"/>
          </a:xfrm>
          <a:prstGeom prst="rect">
            <a:avLst/>
          </a:prstGeom>
          <a:noFill/>
          <a:ln/>
        </p:spPr>
        <p:txBody>
          <a:bodyPr wrap="square" lIns="0" tIns="10160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Giovanni Foscolo (1778–1827): opera L'ultimo Jacopo Ortis (1802), considerata una delle prime opere del romanzo storico italiano.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Alessandro Manzoni (1785–1870):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Promessi Sposi (1827, edizione "ventisettana"): prima edizione.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Promessi Sposi (1840, edizione "quarantana"): versione pubblicata tra il 1840 e il 1842, con l'appendice Storia della Colonna Infame (saggio critico).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Importanza: Manzoni è considerato un fondatore del romanzo storico italiano, con un'attenzione al dato storico e alla verosimiglianza.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0" y="4892040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5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Notes Pipeline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EF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960120"/>
          </a:xfrm>
          <a:prstGeom prst="rect">
            <a:avLst/>
          </a:prstGeom>
          <a:solidFill>
            <a:srgbClr val="EDE3CC"/>
          </a:solidFill>
          <a:ln w="12700">
            <a:solidFill>
              <a:srgbClr val="EDE3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09728"/>
            <a:ext cx="8641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12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Principi Manzoniani: Verosimiglianza, Fine Morale e Popolarità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1078992"/>
            <a:ext cx="8458200" cy="3863340"/>
          </a:xfrm>
          <a:prstGeom prst="rect">
            <a:avLst/>
          </a:prstGeom>
          <a:noFill/>
          <a:ln/>
        </p:spPr>
        <p:txBody>
          <a:bodyPr wrap="square" lIns="0" tIns="10160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Verosimiglianza: I personaggi devono essere "veri" in senso fictionale, ma rispondere alla realtà storica (es. Renzo e Lucia in I Promessi Sposi).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 morale: L'opera deve insegnare valori condivisi, formare una società fondata su valori comuni.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Popolarità: Manzoni afferma che la letteratura deve essere accessibile a tutti, non "bassa" o "trash", ma "leggibile" e "interessante" (con riferimento a Calvino).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0" y="4892040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5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Notes Pipeline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EF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960120"/>
          </a:xfrm>
          <a:prstGeom prst="rect">
            <a:avLst/>
          </a:prstGeom>
          <a:solidFill>
            <a:srgbClr val="EDE3CC"/>
          </a:solidFill>
          <a:ln w="12700">
            <a:solidFill>
              <a:srgbClr val="EDE3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09728"/>
            <a:ext cx="8641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12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Autori Moderni del Romanzo Storico Italiano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1078992"/>
            <a:ext cx="8458200" cy="3863340"/>
          </a:xfrm>
          <a:prstGeom prst="rect">
            <a:avLst/>
          </a:prstGeom>
          <a:noFill/>
          <a:ln/>
        </p:spPr>
        <p:txBody>
          <a:bodyPr wrap="square" lIns="0" tIns="10160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Sebastiano Vassalli (1940–2003):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Opere principali: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Notte della Cometa (1984): ambientata tra fine 1800 e fine 1900, con riferimenti a Dino Campana.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Marche e Marchio (1992): ambientato tra il VII e VIII secolo, in Venezia.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Cigno (1993): ambientato in Sicilia, Firenze, Venezia, Palermo, con personaggi storici come Bara Zolando.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Stella Velenata (2003): romanzo che ha diventato un classico.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Obiettivo: Raccontare la storia dell'Italia attraverso cinque regioni diverse, per evidenziare che l'Italia non ha una storia unica, ma è un insieme di diverse ragioni storiche.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0" y="4892040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5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Notes Pipeline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EF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960120"/>
          </a:xfrm>
          <a:prstGeom prst="rect">
            <a:avLst/>
          </a:prstGeom>
          <a:solidFill>
            <a:srgbClr val="EDE3CC"/>
          </a:solidFill>
          <a:ln w="12700">
            <a:solidFill>
              <a:srgbClr val="EDE3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09728"/>
            <a:ext cx="8641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12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Analisi di *La Chimera* di Sebastiano Vassalli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1078992"/>
            <a:ext cx="8458200" cy="3863340"/>
          </a:xfrm>
          <a:prstGeom prst="rect">
            <a:avLst/>
          </a:prstGeom>
          <a:noFill/>
          <a:ln/>
        </p:spPr>
        <p:txBody>
          <a:bodyPr wrap="square" lIns="0" tIns="10160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Titolo: Deriva da "punta rosa" (un riferimento al Monte Rosa).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Ambientazione: Un paesaggio "chimico" (onirico), con riferimento al villaggio di Zardino (non esistente, in Lombardia), che vede il Monte Rosa come "macino bianco".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Temi: Riflessione sulla storia come metafora del presente, connessione tra passato e presente.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Tecnica narrativa: Utilizzo di un narratore esterno, che interviene con riflessioni sociali e critiche.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0" y="4892040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5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Notes Pipeline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EF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960120"/>
          </a:xfrm>
          <a:prstGeom prst="rect">
            <a:avLst/>
          </a:prstGeom>
          <a:solidFill>
            <a:srgbClr val="EDE3CC"/>
          </a:solidFill>
          <a:ln w="12700">
            <a:solidFill>
              <a:srgbClr val="EDE3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09728"/>
            <a:ext cx="8641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12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Appunti di Lezione: La Filosofia del Romanzo Storico Italiano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1078992"/>
            <a:ext cx="8458200" cy="3863340"/>
          </a:xfrm>
          <a:prstGeom prst="rect">
            <a:avLst/>
          </a:prstGeom>
          <a:noFill/>
          <a:ln/>
        </p:spPr>
        <p:txBody>
          <a:bodyPr wrap="square" lIns="0" tIns="10160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**Introduzione ai Termini Fondamentali**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Storia (termine accademico): narrazione sistematica dei viventi umani, caratterizzata da elementi politico-luttuosi e esposizione critica dei fatti. Si applica a discipline come storia della letteratura, storia dell'arte e storia del cinema.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Storie (termine più ampio): narrazioni specifiche, come racconti, novelle, romanzi. Si distingue da storia per la sua natura breve e focalizzata.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story: termine utilizzato in ambito letterario per descrivere novelle e racconti, ma critico per la sua semplicità rispetto alla complessità del concetto di narrazione storica.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Romanzo: opera letteraria fictionale per definizione, che combina elementi narrativi con una componente verosimile (non necessariamente storica).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**Origini del Romanzo Storico Italiano (Ottocento)**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Giovanni Foscolo (1778–1827): opera L'ultimo Jacopo Ortis (1802), considerata una delle prime opere del romanzo storico italiano.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Alessandro Manzoni (1785–1870):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4137660"/>
            <a:ext cx="8641080" cy="868680"/>
          </a:xfrm>
          <a:prstGeom prst="rect">
            <a:avLst/>
          </a:prstGeom>
          <a:solidFill>
            <a:srgbClr val="8B1A1A">
              <a:alpha val="12000"/>
            </a:srgbClr>
          </a:solidFill>
          <a:ln w="19050">
            <a:solidFill>
              <a:srgbClr val="8B1A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192524"/>
            <a:ext cx="841248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B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"**Definizione critica**: Il romanzo storico non è un'opera puramente storica, ma un "componimento"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8B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 utilizza il dato storico come presupposto per creare verosimiglianza e riflessione morale."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0" y="4892040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5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Notes Pipeline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C12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400" kern="0" dirty="0">
                <a:solidFill>
                  <a:srgbClr val="6B5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8046720" cy="3200400"/>
          </a:xfrm>
          <a:prstGeom prst="rect">
            <a:avLst/>
          </a:prstGeom>
          <a:noFill/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5E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**Contesto storico e simbolico**</a:t>
            </a:r>
            <a:endParaRPr lang="en-US" sz="2600" dirty="0"/>
          </a:p>
          <a:p>
            <a:pPr algn="ctr" indent="0" marL="0">
              <a:buNone/>
            </a:pPr>
            <a:endParaRPr lang="en-US" sz="2600" dirty="0"/>
          </a:p>
          <a:p>
            <a:pPr algn="ctr" indent="0" marL="0">
              <a:buNone/>
            </a:pPr>
            <a:r>
              <a:rPr lang="en-US" sz="2600" dirty="0">
                <a:solidFill>
                  <a:srgbClr val="F5E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[Details from Version 1, corrected century]</a:t>
            </a:r>
            <a:endParaRPr lang="en-US" sz="2600" dirty="0"/>
          </a:p>
          <a:p>
            <a:pPr algn="ctr" indent="0" marL="0">
              <a:buNone/>
            </a:pPr>
            <a:endParaRPr lang="en-US" sz="2600" dirty="0"/>
          </a:p>
          <a:p>
            <a:pPr algn="ctr" indent="0" marL="0">
              <a:buNone/>
            </a:pPr>
            <a:r>
              <a:rPr lang="en-US" sz="2600" dirty="0">
                <a:solidFill>
                  <a:srgbClr val="F5E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**Struttura narrativa e ruolo del narratore**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0" y="4137660"/>
            <a:ext cx="4572000" cy="50292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0" y="4892040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5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Notes Pipeline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Introduzione ai Termini Fondamentali</dc:title>
  <dc:subject>Lecture Notes</dc:subject>
  <dc:creator>Audio Notes Pipeline</dc:creator>
  <cp:lastModifiedBy>Audio Notes Pipeline</cp:lastModifiedBy>
  <cp:revision>1</cp:revision>
  <dcterms:created xsi:type="dcterms:W3CDTF">2026-03-10T22:49:32Z</dcterms:created>
  <dcterms:modified xsi:type="dcterms:W3CDTF">2026-03-10T22:49:32Z</dcterms:modified>
</cp:coreProperties>
</file>