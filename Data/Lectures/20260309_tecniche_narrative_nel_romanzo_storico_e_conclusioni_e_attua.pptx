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2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1A1A"/>
          </a:solidFill>
          <a:ln w="12700">
            <a:solidFill>
              <a:srgbClr val="8B1A1A"/>
            </a:solidFill>
            <a:prstDash val="solid"/>
          </a:ln>
        </p:spPr>
      </p:sp>
      <p:sp>
        <p:nvSpPr>
          <p:cNvPr id="3" name="Text 1"/>
          <p:cNvSpPr/>
          <p:nvPr/>
        </p:nvSpPr>
        <p:spPr>
          <a:xfrm>
            <a:off x="640080" y="822960"/>
            <a:ext cx="7863840" cy="2377440"/>
          </a:xfrm>
          <a:prstGeom prst="rect">
            <a:avLst/>
          </a:prstGeom>
          <a:noFill/>
          <a:ln/>
          <a:effectLst>
            <a:outerShdw sx="100000" sy="100000" kx="0" ky="0" algn="bl" rotWithShape="0" blurRad="101600" dist="38100" dir="8100000">
              <a:srgbClr val="000000">
                <a:alpha val="18000"/>
              </a:srgbClr>
            </a:outerShdw>
          </a:effectLst>
        </p:spPr>
        <p:txBody>
          <a:bodyPr wrap="square" rtlCol="0" anchor="t"/>
          <a:lstStyle/>
          <a:p>
            <a:pPr algn="l" indent="0" marL="0">
              <a:buNone/>
            </a:pPr>
            <a:r>
              <a:rPr lang="en-US" sz="4200" b="1" dirty="0">
                <a:solidFill>
                  <a:srgbClr val="F5EFE0"/>
                </a:solidFill>
                <a:latin typeface="Georgia" pitchFamily="34" charset="0"/>
                <a:ea typeface="Georgia" pitchFamily="34" charset="-122"/>
                <a:cs typeface="Georgia" pitchFamily="34" charset="-120"/>
              </a:rPr>
              <a:t>Tecniche Narrative nel Romanzo Storico e Conclusioni e Attualità</a:t>
            </a:r>
            <a:endParaRPr lang="en-US" sz="4200" dirty="0"/>
          </a:p>
        </p:txBody>
      </p:sp>
      <p:sp>
        <p:nvSpPr>
          <p:cNvPr id="4" name="Shape 2"/>
          <p:cNvSpPr/>
          <p:nvPr/>
        </p:nvSpPr>
        <p:spPr>
          <a:xfrm>
            <a:off x="640080" y="3200400"/>
            <a:ext cx="4114800" cy="50292"/>
          </a:xfrm>
          <a:prstGeom prst="rect">
            <a:avLst/>
          </a:prstGeom>
          <a:solidFill>
            <a:srgbClr val="8B1A1A"/>
          </a:solidFill>
          <a:ln w="12700">
            <a:solidFill>
              <a:srgbClr val="8B1A1A"/>
            </a:solidFill>
            <a:prstDash val="solid"/>
          </a:ln>
        </p:spPr>
      </p:sp>
      <p:sp>
        <p:nvSpPr>
          <p:cNvPr id="5" name="Text 3"/>
          <p:cNvSpPr/>
          <p:nvPr/>
        </p:nvSpPr>
        <p:spPr>
          <a:xfrm>
            <a:off x="6858000" y="4800600"/>
            <a:ext cx="2103120" cy="228600"/>
          </a:xfrm>
          <a:prstGeom prst="rect">
            <a:avLst/>
          </a:prstGeom>
          <a:noFill/>
          <a:ln/>
        </p:spPr>
        <p:txBody>
          <a:bodyPr wrap="square" rtlCol="0" anchor="ctr"/>
          <a:lstStyle/>
          <a:p>
            <a:pPr algn="r" indent="0" marL="0">
              <a:buNone/>
            </a:pPr>
            <a:r>
              <a:rPr lang="en-US" sz="800" dirty="0">
                <a:solidFill>
                  <a:srgbClr val="6B5040"/>
                </a:solidFill>
                <a:latin typeface="Calibri" pitchFamily="34" charset="0"/>
                <a:ea typeface="Calibri" pitchFamily="34" charset="-122"/>
                <a:cs typeface="Calibri" pitchFamily="34" charset="-120"/>
              </a:rPr>
              <a:t>Audio Notes Pipeline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Definizioni e Contesto Teorico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Storia (senso lato): Disciplina che studia l'intero processo umano, integrando aspetti politico-sociali e analisi critica degli eventi storici. Si contrappone alla storia (senso stretto), che si riferisce a narrazioni specifiche di eventi storici passati (non a opere letterarie).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Romanzo storico: Genere letterario che si basa su un contesto storico preciso, con elementi di verosimiglianza (non necessariamente realistici), e che mira a educare il lettore attraverso un'analisi critica del passato per riflettere sul presente.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Verosimiglianza: Concetto centrale nel romanzo storico, che implica la capacità di riprodurre elementi storici in modo plausibile, senza anacronismi, anche se la narrativa include componenti fictional (es. creazione di personaggi inventati che rispondono al contesto storico).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Romanzo popolare: Termine utilizzato nella critica letteraria italiana per descrivere opere accessibili al pubblico, con struttura leggibile e fine morale, evitando di essere "noiose" o "sospette" (come spesso si ritiene nella letteratura).</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Evoluzione Storica del Romanzo Storico Italiano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**Fondazione e Primi Esponenti (Ottocento)**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Giovanni Foscolo (1778–1827): Autore del romanzo L'Ultimo dei Jacopis (1802), considerato un fondatore del romanzo storico italiano. Il suo lavoro introduce elementi di narrazione storica con un forte impegno politico.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Alessandro Manzoni (1797–1854): Scrittore del romanzo I Promessi Sposi (1827, Ventisettina; 1840, Quarantana). La Quarantana include un'appendice teorica che analizza il contesto storico e politico del periodo.</a:t>
            </a:r>
            <a:endParaRPr lang="en-US" sz="1400" dirty="0"/>
          </a:p>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**Teoria e Prassi (Novecento)**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Sebastiano Vassalli (1950–2003): Autore del Novecento italiano, noto per opere come La Chimera (2003), Il Cigno (1993), Stella Velenata (2003) e Il Marche e Marchio (1992). Le sue opere esplorano contesti storici italiani diversi per riflettere sulle radici nazionali.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La Chimera (2003): Romanzo ambientato in un paesaggio inesistente (villaggio chiamato Zardino), con riferimenti al Monte Rosa e alla "chimera" come metafora del passato. L'opera utilizza un narratore esterno per analizzare la società contemporanea.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Cigno (1993): Ambientato in Sicilia e in Italia nel periodo tra fine Ottocento e Novecento, con personaggi storici come Bara Zolando e Pene Panizzolo.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The bullet points are correctly formatted.</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Teoria del Romanzo Storico: Il Contributo di Manzoni</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Manzoni e la verosimiglianza: Secondo Manzoni, l'opera letteraria deve essere verosimile. I personaggi, se non sono reali, sono fittiziosi ma rispondono alla realtà storica (es. Renzo e Lucia in I Promessi Sposi).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L'obiettivo morale: Manzoni afferma che il romanzo storico deve avere un fine morale, educando il lettore a sviluppare valori condivisi. Questo è espresso nella lettera a Cesare D'Azzeglio (1823), in cui Manzoni sostiene che la letteratura deve "proporsi il vero soggetto, l'utile per il scopo e l'interessante argomento".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romanzo popolare: Manzoni rompe con l'idea che la letteratura sia "noiosa" o "negabile". Propone che la letteratura deve essere popolare, cioè accessibile e leggibile, senza essere "bassa" o "trash".</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Check if "trash" is used in Italian academic contexts. It's a loanword, so it's acceptable with quotes.</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Upon a quick check: Manzoni wrote a letter to Cesare D'Azzeglio in 1823? Hmm, according to some sources, Manzoni's correspondence with D'Azzeglio was in the 1820s, but the exact date might be 1824. However, without definitive knowledge, I'll assume the user's version is correct and not change the date.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Yes, that's a good correction.</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The title is "## Teoria del Romanzo Storico: Il Contributo di Manzoni" followed by the bullets.</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No extra text, just the section.</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Tecniche Narrative nel Romanzo Storico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**1. Narratore Esterno: Intervento Critico e Riflessivo**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romanzo La Chimera di Sebastiano Vassalli introduce un narratore esterno che si differenzia radicalmente dal modello manzoniano. Mentre nel I Promessi Sposi di Alessandro Manzoni il narratore è più distante e ironico, nel La Chimera Vassalli utilizza un narratore che interviene continuamente con opinioni e analisi critiche, esprimendo il "vero romano" attraverso il "vero storico".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Caratteristiche: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Intervento critico: Il narratore Vassaliano critica duramente la società inquisitoria, sottolineando la barbarie del sistema.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Assenza di un "vero romano": A differenza del manzoniano, Vassalli non ha un personaggio storico da narrare, ma si concentra su riflessioni sociali e storiche.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Esempi concreti: Nella descrizione del processo contro Antonia de Giardino, il narratore critica l'Inquisitore Manini, sottolineando come la sua azione sia motivata da un "turbamento" e "indignazione" per la bellezza e l'intelligenza di Antonia. Inoltre, nel capitolo trentesimo, svela l'annichilimento della storia con l'immagine di Antonia bruciata e i suoi occhi diventati bianchi.</a:t>
            </a:r>
            <a:endParaRPr lang="en-US" sz="1400" dirty="0"/>
          </a:p>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**2. Uso Sistematico di Documenti Storici e Fonti**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Vassalli si basa su fonti documentarie per rendere la narrazione realistica e storica:</a:t>
            </a:r>
            <a:endParaRPr lang="en-US" sz="1400" dirty="0"/>
          </a:p>
        </p:txBody>
      </p:sp>
      <p:sp>
        <p:nvSpPr>
          <p:cNvPr id="6" name="Shape 4"/>
          <p:cNvSpPr/>
          <p:nvPr/>
        </p:nvSpPr>
        <p:spPr>
          <a:xfrm>
            <a:off x="320040" y="4137660"/>
            <a:ext cx="8641080" cy="868680"/>
          </a:xfrm>
          <a:prstGeom prst="rect">
            <a:avLst/>
          </a:prstGeom>
          <a:solidFill>
            <a:srgbClr val="8B1A1A">
              <a:alpha val="12000"/>
            </a:srgbClr>
          </a:solidFill>
          <a:ln w="19050">
            <a:solidFill>
              <a:srgbClr val="8B1A1A"/>
            </a:solidFill>
            <a:prstDash val="solid"/>
          </a:ln>
        </p:spPr>
      </p:sp>
      <p:sp>
        <p:nvSpPr>
          <p:cNvPr id="7" name="Text 5"/>
          <p:cNvSpPr/>
          <p:nvPr/>
        </p:nvSpPr>
        <p:spPr>
          <a:xfrm>
            <a:off x="457200" y="4192524"/>
            <a:ext cx="8412480" cy="758952"/>
          </a:xfrm>
          <a:prstGeom prst="rect">
            <a:avLst/>
          </a:prstGeom>
          <a:noFill/>
          <a:ln/>
        </p:spPr>
        <p:txBody>
          <a:bodyPr wrap="square" rtlCol="0" anchor="ctr"/>
          <a:lstStyle/>
          <a:p>
            <a:pPr algn="ctr" indent="0" marL="0">
              <a:buNone/>
            </a:pPr>
            <a:r>
              <a:rPr lang="en-US" sz="1200" i="1" dirty="0">
                <a:solidFill>
                  <a:srgbClr val="8B1A1A"/>
                </a:solidFill>
                <a:latin typeface="Georgia" pitchFamily="34" charset="0"/>
                <a:ea typeface="Georgia" pitchFamily="34" charset="-122"/>
                <a:cs typeface="Georgia" pitchFamily="34" charset="-120"/>
              </a:rPr>
              <a:t>""Questa storia qui non è più la storia della tua famiglia. Questa storia ci riguarda tutti. È la</a:t>
            </a:r>
            <a:endParaRPr lang="en-US" sz="1200" dirty="0"/>
          </a:p>
          <a:p>
            <a:pPr algn="ctr" indent="0" marL="0">
              <a:buNone/>
            </a:pPr>
            <a:r>
              <a:rPr lang="en-US" sz="1200" i="1" dirty="0">
                <a:solidFill>
                  <a:srgbClr val="8B1A1A"/>
                </a:solidFill>
                <a:latin typeface="Georgia" pitchFamily="34" charset="0"/>
                <a:ea typeface="Georgia" pitchFamily="34" charset="-122"/>
                <a:cs typeface="Georgia" pitchFamily="34" charset="-120"/>
              </a:rPr>
              <a:t>nostra storia, è la storia di una generazione che ha fatto finta di nulla che si è svegliata quando</a:t>
            </a:r>
            <a:endParaRPr lang="en-US" sz="1200" dirty="0"/>
          </a:p>
          <a:p>
            <a:pPr algn="ctr" indent="0" marL="0">
              <a:buNone/>
            </a:pPr>
            <a:r>
              <a:rPr lang="en-US" sz="1200" i="1" dirty="0">
                <a:solidFill>
                  <a:srgbClr val="8B1A1A"/>
                </a:solidFill>
                <a:latin typeface="Georgia" pitchFamily="34" charset="0"/>
                <a:ea typeface="Georgia" pitchFamily="34" charset="-122"/>
                <a:cs typeface="Georgia" pitchFamily="34" charset="-120"/>
              </a:rPr>
              <a:t>è passato tutto.""</a:t>
            </a:r>
            <a:endParaRPr lang="en-US" sz="1200" dirty="0"/>
          </a:p>
        </p:txBody>
      </p:sp>
      <p:sp>
        <p:nvSpPr>
          <p:cNvPr id="8" name="Text 6"/>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208"/>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algn="ctr" indent="0" marL="0">
              <a:buNone/>
            </a:pPr>
            <a:r>
              <a:rPr lang="en-US" sz="1000" spc="400" kern="0" dirty="0">
                <a:solidFill>
                  <a:srgbClr val="6B5040"/>
                </a:solidFill>
                <a:latin typeface="Calibri" pitchFamily="34" charset="0"/>
                <a:ea typeface="Calibri" pitchFamily="34" charset="-122"/>
                <a:cs typeface="Calibri" pitchFamily="34" charset="-120"/>
              </a:rPr>
              <a:t>CONCLUSIONE</a:t>
            </a:r>
            <a:endParaRPr lang="en-US" sz="1000" dirty="0"/>
          </a:p>
        </p:txBody>
      </p:sp>
      <p:sp>
        <p:nvSpPr>
          <p:cNvPr id="3" name="Text 1"/>
          <p:cNvSpPr/>
          <p:nvPr/>
        </p:nvSpPr>
        <p:spPr>
          <a:xfrm>
            <a:off x="548640" y="685800"/>
            <a:ext cx="8046720" cy="3200400"/>
          </a:xfrm>
          <a:prstGeom prst="rect">
            <a:avLst/>
          </a:prstGeom>
          <a:noFill/>
          <a:ln/>
          <a:effectLst>
            <a:outerShdw sx="100000" sy="100000" kx="0" ky="0" algn="bl" rotWithShape="0" blurRad="101600" dist="38100" dir="8100000">
              <a:srgbClr val="000000">
                <a:alpha val="18000"/>
              </a:srgbClr>
            </a:outerShdw>
          </a:effectLst>
        </p:spPr>
        <p:txBody>
          <a:bodyPr wrap="square" rtlCol="0" anchor="ctr"/>
          <a:lstStyle/>
          <a:p>
            <a:pPr algn="ctr" indent="0" marL="0">
              <a:buNone/>
            </a:pPr>
            <a:r>
              <a:rPr lang="en-US" sz="2600" dirty="0">
                <a:solidFill>
                  <a:srgbClr val="F5EFE0"/>
                </a:solidFill>
                <a:latin typeface="Georgia" pitchFamily="34" charset="0"/>
                <a:ea typeface="Georgia" pitchFamily="34" charset="-122"/>
                <a:cs typeface="Georgia" pitchFamily="34" charset="-120"/>
              </a:rPr>
              <a:t>Il romanzo storico italiano rimane un genere vitale nel Novecento, nonostante le critiche alla "crisi del romanzo". Vassalli dimostra che il genere non è solo un'opera di ripristino storico, ma un strumento per analizzare le dinamiche sociali contemporanee, grazie all'uso di fonti documentarie e alla critica sociale che lo rendono un "ponte" tra passato e presente.</a:t>
            </a:r>
            <a:endParaRPr lang="en-US" sz="2600" dirty="0"/>
          </a:p>
          <a:p>
            <a:pPr algn="ctr" indent="0" marL="0">
              <a:buNone/>
            </a:pPr>
            <a:endParaRPr lang="en-US" sz="2600" dirty="0"/>
          </a:p>
          <a:p>
            <a:pPr algn="ctr" indent="0" marL="0">
              <a:buNone/>
            </a:pPr>
            <a:r>
              <a:rPr lang="en-US" sz="2600" dirty="0">
                <a:solidFill>
                  <a:srgbClr val="F5EFE0"/>
                </a:solidFill>
                <a:latin typeface="Georgia" pitchFamily="34" charset="0"/>
                <a:ea typeface="Georgia" pitchFamily="34" charset="-122"/>
                <a:cs typeface="Georgia" pitchFamily="34" charset="-120"/>
              </a:rPr>
              <a:t>La sua continua rilevanza si spiega con la capacità di collegare passato e presente, offrendo un'analisi critica della società contemporanea e sottraendo il passato all'oblio per fornire un'alternativa alle visioni del presente.</a:t>
            </a:r>
            <a:endParaRPr lang="en-US" sz="2600" dirty="0"/>
          </a:p>
          <a:p>
            <a:pPr algn="ctr" indent="0" marL="0">
              <a:buNone/>
            </a:pPr>
            <a:endParaRPr lang="en-US" sz="2600" dirty="0"/>
          </a:p>
          <a:p>
            <a:pPr algn="ctr" indent="0" marL="0">
              <a:buNone/>
            </a:pPr>
            <a:r>
              <a:rPr lang="en-US" sz="2600" dirty="0">
                <a:solidFill>
                  <a:srgbClr val="F5EFE0"/>
                </a:solidFill>
                <a:latin typeface="Georgia" pitchFamily="34" charset="0"/>
                <a:ea typeface="Georgia" pitchFamily="34" charset="-122"/>
                <a:cs typeface="Georgia" pitchFamily="34" charset="-120"/>
              </a:rPr>
              <a:t>Esempio concreto: La Chimera di Vassalli utilizza il Monte Rosa come simbolo onirico per riflettere sulle dinamiche sociali e politiche dell'Italia moderna, dimostrando come il romanzo storico possa essere un'opera attualmente rilevante, didattica e critica nei confronti dei sistemi di potere.</a:t>
            </a:r>
            <a:endParaRPr lang="en-US" sz="2600" dirty="0"/>
          </a:p>
        </p:txBody>
      </p:sp>
      <p:sp>
        <p:nvSpPr>
          <p:cNvPr id="4" name="Shape 2"/>
          <p:cNvSpPr/>
          <p:nvPr/>
        </p:nvSpPr>
        <p:spPr>
          <a:xfrm>
            <a:off x="2286000" y="4137660"/>
            <a:ext cx="4572000" cy="50292"/>
          </a:xfrm>
          <a:prstGeom prst="rect">
            <a:avLst/>
          </a:prstGeom>
          <a:solidFill>
            <a:srgbClr val="8B1A1A"/>
          </a:solidFill>
          <a:ln w="12700">
            <a:solidFill>
              <a:srgbClr val="8B1A1A"/>
            </a:solidFill>
            <a:prstDash val="solid"/>
          </a:ln>
        </p:spPr>
      </p:sp>
      <p:sp>
        <p:nvSpPr>
          <p:cNvPr id="5" name="Text 3"/>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Tecniche Narrative nel Romanzo Storico e Conclusioni e Attualità</dc:title>
  <dc:subject>Lecture Notes</dc:subject>
  <dc:creator>Audio Notes Pipeline</dc:creator>
  <cp:lastModifiedBy>Audio Notes Pipeline</cp:lastModifiedBy>
  <cp:revision>1</cp:revision>
  <dcterms:created xsi:type="dcterms:W3CDTF">2026-03-11T10:32:08Z</dcterms:created>
  <dcterms:modified xsi:type="dcterms:W3CDTF">2026-03-11T10:32:08Z</dcterms:modified>
</cp:coreProperties>
</file>