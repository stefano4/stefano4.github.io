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23774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 e riferimenti alla letteratura storica contemporanea e Riferimenti critici e contesto moderno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411480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Introduzione ai termini chiave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**Storia vs. Storie**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professore spiega la distinzione tra "storia" (disciplina accademica) e "storie" (narrazioni).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Origini del romanzo storico italiano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Ugo Foscolo (1778–1827) (1802): Le ultime lettere di Jacopo Ortis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Manzoni (1785–1854) (1827–1840): I promessi sposi (edizioni 1827 e 1840)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principi di Manzoni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Verosimiglianza: L'opera deve presentare una coerenza narrativa e personaggi fittizi che si comportano in modo coerente con la realtà.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Utilità morale: L'opera deve perseguire un fine educativo, promuovendo una riflessione morale nel lettore.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per il mezzo: L'opera deve essere leggibile e accessibile, evitando di risultare noiosa.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Sebastiano Vassalli: un esempio contemporaneo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Opere principali: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notte della cometa (1984)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e Marchio (1992)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Cigno (1993)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 Velenata (2003)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Giulia Di Maro e Gian Lorenzo Bernini (cinquecento-seicento)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 di *La Chimera* (Vassalli)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Ambientazione: paesaggio alpino, riferimento al Monte Rosa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Tema: identità italiana, storia come metafora del presente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 narrativa: narratore esterno, riflessione critica sulla società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Sebastiano Vassalli (1778–1827): La Chimera (1827)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Manzoni: I promessi sposi (1827, edizione 1840); Storia della colonna infame (appendice)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Ugo Foscolo: Le ultime lettere di Jacopo Ortis (1802)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Appunti di Filosofia della Letteratura: Il Romanzo Storico Italiano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**Introduzione ai termini chiave**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Storia (senso lato): narrazione sistematica dei viventi umani, costruita su elementi politico-istorici, esposizione critica dei fatti.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Storie: narrazioni brevi, come novelle, racconti, treccini, che trattano eventi particolari.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storico è un genere letterario che: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Presuppone un dato storico come base verosimile (non anacronistico).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 elementi fictional (personaggi inventati, azioni creative) che rispondono al contesto storico reale.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un fine morale ed educativo, mirato a formare il lettore attraverso la verosimiglianza.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**Origini del romanzo storico italiano**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"*"Le storie si occupano di letterati storici. Le storie sono anche una narrazione, una narrazione di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fatto particolare, racconto, novela, treccio."*"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 di *La Chimera* (Sebastiano Vassalli)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**1. Contesto storico e ambientazione**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Zardino: villaggio immaginario situato nella regione Lombardia, distrutto dalla piena nel fiume (non esiste più) e utilizzato come simbolo di un passato irreversibile.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Rosa: riferimento simbolico descritto come "macino bianco" (punta di neve) e immagine onirica, che Vassalli collega alla prospettiva visiva del viaggio in montagna (es. il percorso di Orino).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Riferimenti letterari: forte connessione con Dino Campana (1901–1959), scrittore italiano, per l'uso di immagini metaforiche e la riflessione sul presente attraverso il passato.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storico: narrazione ambientata tra il 1590 e il 11 settembre 1610, data significativa per il contesto inquisitorio e la riflessione sulla contemporaneità.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**2. Struttura narrativa e tecniche**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Struttura: introduzione, 30 capitoli e un congelo (conclusione narrativa che simboleggia la "sottrazione" della storia dall'oblio).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Narratore esterno: tecnica centrale del romanzo, che interviene continuamente esprimendo opinioni e analisi sociali. A differenza del narratore manzoniano (ansioso e ironico), il narratore vassaliano è esplicito, durissimo e critico nei confronti della società inquisitiva.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"**Citazione chiave**: *"Il romanzo storico ha questa chiave di accesso: si conosce, ripeto, 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soprattutto si legge il presente del nostro passato."* (Sebastiano Vassalli)"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Introduzione alla struttura narrativa di *La Chimera*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Chimera di Ugo Foscolo (1778–1827) è un romanzo filosofico che si colloca nel contesto dell’illuminismo e delle riflessioni teoriche del periodo. L’opera si distingue per l’uso di personaggi immaginari e simbolici, integrati in un contesto narrativo che esplora le condizioni umane e la natura dell’esistenza. Foscolo utilizza un approccio ibrido tra filosofia e narrativa, permettendo al lettore di riflettere sulle complessità della mente umana e delle sue relazioni con il mondo esterno.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Personaggi storici e romanzeschi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romanzo, Vassalli introduce una serie di personaggi reali che fungono da elementi chiave per la costruzione del contesto storico: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Bascapè: Nobile del periodo, figura centrale nel contesto storico di Novara.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Manini: Personaggio storico coinvolto nel processo giudiziario.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Sasso e Boia: Due figure reali coinvolte nel contesto del processo.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 Romero: Avo di Federico Romero, personaggio storico.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"**Nota**: Il termine *caccetta* in italiano può avere significati diversi (ad esempio, *caccia* 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"caccia" o *caccetta* per "piccola caccia"). In questo contesto, si riferisce a un bandito storico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Seicento."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Ruolo del narratore critico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elemento fondamentale di La Chimera è il ruolo del narratore, che interviene in modo diretto e critico nel racconto. Il narratore non è solo un osservatore passivo, ma assume un’attitudine analitica per sottolineare: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violenza e l’arbitrarietà dei "perpetratori" (personaggi violenti e servi del potere).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L’assenza di senso delle azioni dei "corti santi" (personaggi che operano nel contesto della compravendita di falseregole).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complessità delle dinamiche sociali, in particolare il ruolo della folla nel processo di giustizia.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narratore utilizza un linguaggio esplicito per denunciare la "ferocità umana" e il "bigottismo" che caratterizzano il contesto storico.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 dei "perpetratori" e "exclusi"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**Perpetratori**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"perpetratori" sono individui che, nel contesto del romanzo, rappresentano la violenza strutturale. In particolare: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Carnecci: Personaggi violenti che operano in nome del potere, ad esempio i carnefici che interrogano Antonia.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di potere: Individui che, oltre a violare fisicamente, partecipano attivamente a un sistema di controllo sociale.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**Esclusi**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"esclusi" (o "exclusus") sono personaggi marginalizzati, esclusi dal sistema sociale. Tra questi: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Antonia: La protagonista, vittima delle azioni dei perpetratori.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Bianca: Amica di Antonia, che mantiene un legame di amicizia sincera con lei.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"**Esempio**: Il narratore descrive i "perpetratori" come "servi di potere" che agiscono senza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conseguenze."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Contesto storico e sociale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Chimera si colloca nel contesto storico dell’Inquisizione italiana del Seicento, un periodo caratterizzato da: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Chiesa e il potere temporale: La Chiesa aveva un atteggiamento di toleranza (inclusione) nei confronti dei non preti che esercitavano funzioni religiose non ufficiali.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compravendita di falsi regolamenti: Un fenomeno economico in cui si compravano e vendevano regole false per evitare le sanzioni.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ruolo della folla: La folla, descritta come "brava gente", partecipa al processo di giustizia in modo non violento ma con un’energia disordinata.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"**Riferimento storico**: La trascrizione menziona la città di **Novara** come "città guarnigione"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(città con soldati), un elemento chiave per comprendere la dinamica sociale del periodo."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capitolo finale e la riflessione sulle conseguenze sociali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capitolo trentesimo di La Chimera descrive la morte di Antonia, bruciata all’aperto in un contesto di violenza collettiva. Il narratore sottolinea: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L’assenza di senso: L’azione di bruciare Antonia non è vista come un atto di giustizia, ma come un’esplosione di odio.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ruolo della folla: La folla, descritta come "brava gente", partecipa alla violenza senza rendersi conto della sua natura distruttiva.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della violenza: Il narratore evidenzia come la violenza sociale si ripeta, come "le parole, le angosti, i dolori, le afflizioni" che "sono destinati a ripetersi a perfettarsi".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"**Esempio**: Antonia appare sulla torre dei palazzi il **11 settembre** (giorno in cui muore). 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folla, inizialmente **"sfolgurigia"**, diventa violenta, mostrando come l’odio possa diventare un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mezzo di controllo sociale."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 E RIFERIMENTI ALLA LETTERATURA STORICA CONTEMPORANEA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34747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"**Francesca Marciano** (nata a Milano nel 1965) ha scritto *Casa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Rossa* (2002), un romanzo che analizza la **"stagione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dell’errorismo"** e della **"lotta"** nella storia italiana recente.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Secondo Marciano, **"questa storia non è più la storia della tua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famiglia, questa storia ci riguarda tutti"**."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4366260"/>
            <a:ext cx="2743200" cy="45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4577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lezione conclude con un riferimento a Francesca Marciano, autrice di romanzi storici meno nota ma significativa. La sua opera Casa Rossa (2002) esplora la stessa idea di "storia che riguarda tutti":  ·  La lezione sottolinea che Vassalli, attraverso La Chimera, insegna a "considerare ogni storia come la nostra storia" e a "farne un insegnamento". Questo approccio è particolarmente rilevante nel contesto contemporaneo, dove la violenza e l’odio sono ancora presenti.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3200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lezione conclude con un confronto tra La Chimera e 1984 di George Orwell (1903–1950):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Confronto: La "settimana dell’odio" descritta in La Chimera è paragonabile alla "settimana dell’odio" di 1984, dove l’odio diventa un mezzo di controllo sociale.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Rilevanza: Ugo Foscolo (1778–1827), come Orwell, denuncia l’assenza di senso delle azioni umane e la capacità di trasformare l’odio in un mezzo di potere.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4137660"/>
            <a:ext cx="457200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291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"**Citazione di George Orwell**: *"Il potere è la capacità di fare ciò che altri non possono fare"* (da *1984*)."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Conclusione e riferimenti alla letteratura storica contemporanea e Riferimenti critici e contesto moderno</dc:title>
  <dc:subject>Lecture Notes</dc:subject>
  <dc:creator>Audio Notes Pipeline</dc:creator>
  <cp:lastModifiedBy>Audio Notes Pipeline</cp:lastModifiedBy>
  <cp:revision>1</cp:revision>
  <dcterms:created xsi:type="dcterms:W3CDTF">2026-03-11T13:32:06Z</dcterms:created>
  <dcterms:modified xsi:type="dcterms:W3CDTF">2026-03-11T13:32:06Z</dcterms:modified>
</cp:coreProperties>
</file>