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237744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Differenze tra "storia" e "storie"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40080" y="3200400"/>
            <a:ext cx="4114800" cy="5029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0" y="4800600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Differenze tra "storia" e "storie"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lezione inizia con una distinzione fondamentale tra il termine storia (in senso lato) e storie (narrative specifiche):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Storia (senso lato): narrazione sistematica dei viventi umani, composta da elementi politico-militari, esposizione critica dei fatti. Si riferisce a discipline come la storia della letteratura, della pittura, del cinema.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Storie: narrazioni specifiche, come novelle, racconti, treccio (storie brevi e narrative).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termine "show story" (mistranslazione vocale) si riferisce alla storia breve (storia breve), utilizzato in ambito letterario per descrivere novelle e racconti. La parola "novela" indica un romanzo (opera fictionale).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4137660"/>
            <a:ext cx="8641080" cy="868680"/>
          </a:xfrm>
          <a:prstGeom prst="rect">
            <a:avLst/>
          </a:prstGeom>
          <a:solidFill>
            <a:srgbClr val="8B1A1A">
              <a:alpha val="12000"/>
            </a:srgbClr>
          </a:solidFill>
          <a:ln w="19050">
            <a:solidFill>
              <a:srgbClr val="8B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192524"/>
            <a:ext cx="84124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""Il romanzo storico è un veicolo per spiegare i sentimenti, le emozioni individuali e collettive.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Creare dei fatti per adattarvi dei sentimenti è il grande compito dei romanzieri.""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Definizione e caratteristiche del romanzo storico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romanzo storico è un genere letterario che combina elementi storici con componenti fictionali, mantenendo una verosimiglianza (plausibilità) rispetto alla realtà storica. Secondo Manzoni, l'opera letteraria deve essere verosimile, anche se i personaggi sono inventati (fictional), ma rispondono al contesto storico.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Caratteristiche chiave: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Verosimiglianza: l'opera deve essere plausibile rispetto alla realtà storica (es. non anacronismi).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metastorica: il passato viene presentato per riflettere sul presente.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Narratore esterno: tecnica frequente nel romanzo storico, che interviene con riflessioni critiche.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Origini del romanzo storico italiano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romanzo storico in Italia nasce nell'Ottocento, con due fondatori chiave: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Foscolo (1802): L'Ultima di Jacopo Ortis (prima opera di stile romanzo storico italiano).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Manzoni (1827-1840): I Promessi Sposi (edizioni fondamentali).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**Edizioni di *I Promessi Sposi* di Manzoni**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Edizione | Anno | Descrizione | |----------|------|--------------| | Ventisettana | 1827 | Prima edizione del romanzo | | Quarantana | 1840 | Edizione pubblicata tra il 1840 e il 1842, con appendice Storia della colonna infame |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4137660"/>
            <a:ext cx="8641080" cy="868680"/>
          </a:xfrm>
          <a:prstGeom prst="rect">
            <a:avLst/>
          </a:prstGeom>
          <a:solidFill>
            <a:srgbClr val="8B1A1A">
              <a:alpha val="12000"/>
            </a:srgbClr>
          </a:solidFill>
          <a:ln w="19050">
            <a:solidFill>
              <a:srgbClr val="8B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192524"/>
            <a:ext cx="84124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""La quarantana (1840) presenta un'appendice importante, *Storia della colonna infame*, in cui 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mazzonista sottosonda temi interni del romanzo dalla prospettiva del saggista.""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Don Lisandro e la teoria del romanzo storico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 Lisandro (1805), all'età di 20 anni, scrive un'opera fondamentale che teorizza per la prima volta il genere del romanzo storico: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Secondo Don Lisandro, il romanzo storico è un veicolo per: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sentimenti e emozioni individuali e collettive.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Creare fatti plausibili che adattino i sentimenti.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4137660"/>
            <a:ext cx="8641080" cy="868680"/>
          </a:xfrm>
          <a:prstGeom prst="rect">
            <a:avLst/>
          </a:prstGeom>
          <a:solidFill>
            <a:srgbClr val="8B1A1A">
              <a:alpha val="12000"/>
            </a:srgbClr>
          </a:solidFill>
          <a:ln w="19050">
            <a:solidFill>
              <a:srgbClr val="8B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192524"/>
            <a:ext cx="84124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""Il compito dei romanzieri è spiegare ciò che gli uomini hanno sentito, voluto e sofferto, mediante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ciò che essi hanno fatto.""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Manzoni e i principi del romanzo storico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Alessandro Manzoni stabilisce tre principi fondamentali per il romanzo storico: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Verosimiglianza: l'opera deve essere plausibile rispetto alla realtà storica.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Utile per il scopo: il romanzo deve avere un fine morale, educativo e sociale.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Interessante per il lettore: la letteratura deve essere popolare (non bassa, ma accessibile), come affermato da Manzoni.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Manzoni rifiuta l'idea che la letteratura sia "noiosa" o "negabile". La leggibilità è essenziale per il rapporto con il lettore.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4137660"/>
            <a:ext cx="8641080" cy="868680"/>
          </a:xfrm>
          <a:prstGeom prst="rect">
            <a:avLst/>
          </a:prstGeom>
          <a:solidFill>
            <a:srgbClr val="8B1A1A">
              <a:alpha val="12000"/>
            </a:srgbClr>
          </a:solidFill>
          <a:ln w="19050">
            <a:solidFill>
              <a:srgbClr val="8B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192524"/>
            <a:ext cx="84124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""La letteratura deve essere popolare. Tutti devono capire. Se non capiscono, l'opera non serve a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niente.""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Autori contemporanei del romanzo storico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 Novecento e oltre, il romanzo storico si è diversificato, con autori come: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Bassali (1980-2000s): autore di opere come La Chimera (2003), Il Cigno (1993), che esplorano contesti storici italiani con un'attenzione alla verosimiglianza e alla funzione metastorica.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Sebastiano Vassalli (1980s-2000s): autore di romanzi come La notte della cometa (1984), Marche e Marchio (1992), Stella Velenata (2003), che raccontano la storia dell'Italia attraverso cinque regioni diverse.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**Opere di Sebastiano Vassalli**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Titolo | Anno | Contesto storico | |--------|------|-------------------| | La notte della cometa | 1984 | Fine Ottocento – Fine Novecento | | Marche e Marchio | 1992 | Fine Ottocento – Inizio Novecento | | Il Cigno | 1993 | Sicilia, Firenze, Venezia | | Stella Velenata | 2003 | Cinquecento – Seicento |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Analisi di *La Chimera* di Giovanni Bassali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Chimera (2003) di Giovanni Bassali è un romanzo storico che esplora il paesaggio iniffabile (indefinibile) dell'Alpi, con riferimenti al Monte Rosa e alla cultura del passato.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b="1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**Caratteristiche principali**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Ambientazione: paesaggio alpino, con immagini oniriche del Monte Rosa (definito "macino bianco" da Bassali).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Riferimenti storici: connessioni con Dino Campana e con la cultura dell'epoca.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metastorica: il romanzo utilizza il passato per riflettere sul presente, in particolare sulle dinamiche sociali e politiche contemporanee.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" y="4137660"/>
            <a:ext cx="8641080" cy="868680"/>
          </a:xfrm>
          <a:prstGeom prst="rect">
            <a:avLst/>
          </a:prstGeom>
          <a:solidFill>
            <a:srgbClr val="8B1A1A">
              <a:alpha val="12000"/>
            </a:srgbClr>
          </a:solidFill>
          <a:ln w="19050">
            <a:solidFill>
              <a:srgbClr val="8B1A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192524"/>
            <a:ext cx="8412480" cy="7589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""La Chimera prende il titolo da *punta rosa*. L'ambientazione è quella di un paesaggio iniffabile.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i="1" dirty="0">
                <a:solidFill>
                  <a:srgbClr val="8B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Il Monte Rosa, come definisce Bassali, è un 'macino bianco'.""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romanzo storico, secondo la lezione, è un genere letterario in costante evoluzione, che combina verosimiglianza storica con riflessioni critiche. Nonostante le critiche del Novecento (crisi del romanzo storico), autori come Bassali e Vassalli dimostrano che il genere rimane vitale e attualmente rilevante.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chiave di successo del romanzo storico è la capacità di educare il lettore attraverso una narrazione accessibile e plausibile, mantenendo un rapporto stretto con la realtà storica e con il presente.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termini chiave per comprendere il romanzo storico sono: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Verosimiglianza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Funzione metastorica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Letteratura popolare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Narratore esterno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should cover the main points from the transcript, with corrections for names and terms as per Italian academic standards.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Introduzione al romanzo *La Chimera* di Bassani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Titolo e origine: Il titolo La Chimera deriva dalla "punta rosa", un riferimento simbolico alla forma indefinibile del paesaggio.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Ambientazione: L'ambientazione è un paesaggio indefinibile, associato a un'immagine chimetica del Monte Rosa descritto come "un macigno bianco". Questo simbolo è legato alla visione di Zardino, un villaggio immaginario della bassa Lombardia, ormai scomparso.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Riferimenti letterari: Il romanzo include un riferimento significativo a Dino Campana, che influenza la struttura metaforica del testo.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Tecniche narrative e struttura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Narratore esterno: La tecnica del narratore esterno è centrale nel romanzo. A differenza del narratore manzoniano, che è più ansioso e ridondante, il narratore bassaniano interviene con esplicitità, esprimendo opinioni critiche e analisi sociali.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Struttura del romanzo: Comprende un'introduzione, 30 capitoli e un "congelio" (momento narrativo di arresto), che permette di focalizzarsi sulle tematiche storiche e sociali.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con Manzoni: Bassani si contrappone alla tecnica manzoniana, dove il narratore si concentra sul ruolo del storico (sottrarre la storia all'oblio) e della romanziera (estrarre storie dalla storia). Bassani, invece, utilizza un intervento narrativo più diretto e critico.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Storia di Antonia e contesto storico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Cronologia e trama: Antonia, una ragazza di dieci anni, viene adottata da una coppia di contadini a Zardino. Dopo dieci anni, viene denunciata come strega, interrogata, brutalizzata e bruciata a vent'anni. La cronologia va dal 1590 al 11 settembre 1610.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 sociale e religioso: L'epoca è caratterizzata dall'inquisizione, con l'uso di tecniche di coercizione come quelle descritte nel Malleus Maleficarum (Manuale dell'Inquisitore) di Sprenger e Kramer. L'Inquisitore Manini, un dominicano descritto come "barbaro", è il protagonista della brutalità verso Antonia.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Elementi del romanzo storico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sistematico di documenti e fonti: Bassani incrocia atti processuali e fonti storiche, come il Malleus Maleficarum, per ricostruire con precisione il contesto storico. Esempi includono riferimenti agli atti del processo contro Antonia de Giardino di Ctalastria.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Presenza di personaggi storici e inventati: Personaggi reali come Bascapè (santo descritto come "ascefico") e Manini (inquisitore), con personaggi romanzeschi documentati dagli atti processuali, come Gasparo, l'amante di Antonia.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Excursus e regressioni: L'autore interrompe la narrazione per introdurre storie secondarie, che permettono di analizzare il contesto storico in modo più profondo.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Narrazione critica: L'intervento del narratore è durissimo, sottolineando la barbarie dell'inquisizione e le condizioni sociali dei "risaroli" (lavoratori forzati).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Intervento del narratore e critica sociale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dei personaggi: Il narratore critica l'Inquisitore Manini, descrivendo il suo comportamento come "barbaro" e il suo uso di citazioni dal Proverbo per giustificare la bruciatura di Antonia.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Ritratti simbolici: Il ritratto di Antonia, descritto con particolare attenzione alla sua vesti e capelli, contrasta con il ritratto di Lucia (da Manzoni), evidenziando la differenza tra le due culture e le condizioni sociali.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EF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960120"/>
          </a:xfrm>
          <a:prstGeom prst="rect">
            <a:avLst/>
          </a:prstGeom>
          <a:solidFill>
            <a:srgbClr val="EDE3CC"/>
          </a:solidFill>
          <a:ln w="12700">
            <a:solidFill>
              <a:srgbClr val="EDE3C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109728"/>
            <a:ext cx="8641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C120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Personaggi storici e significato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458200" cy="3863340"/>
          </a:xfrm>
          <a:prstGeom prst="rect">
            <a:avLst/>
          </a:prstGeom>
          <a:noFill/>
          <a:ln/>
        </p:spPr>
        <p:txBody>
          <a:bodyPr wrap="square" lIns="0" tIns="10160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Bascapè: Descritto come "troppo santo", non coinvolto nella vicenda di Antonia, ma lasciando che questa venisse bruciata. Questo contrasto con la concezione manzoniana della Chiesa (providenziale) è centrale nel testo.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Manini: L'inquisitore dominicano, rappresentante della repressione religiosa e sociale.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3D2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Risaroli: Personaggi storici che svolgono il ruolo di trasportatori di lavoratori forzati, descritti come "squalici" e "violenti".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C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400" kern="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8046720" cy="320040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**Personaggi storici integrati nel romanzo**</a:t>
            </a:r>
            <a:endParaRPr lang="en-US" sz="2600" dirty="0"/>
          </a:p>
          <a:p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Bascapè: Personaggio realmente esistito, utilizzato come base per il romanzesco.</a:t>
            </a:r>
            <a:endParaRPr lang="en-US" sz="2600" dirty="0"/>
          </a:p>
          <a:p>
            <a:pPr algn="ctr" indent="0" marL="0">
              <a:buNone/>
            </a:pP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F5EF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Manini: Personaggio storico documentato.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286000" y="4137660"/>
            <a:ext cx="4572000" cy="5029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22910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""La ferocità umana culmina in quell'orgia finale in cui gli uomini, le donne e i bambini assistono guzzurigliati come in un baccarale a loro in cui la povera Antonia viene bruciata.""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0" y="4892040"/>
            <a:ext cx="21031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6B5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Notes Pipeline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Differenze tra "storia" e "storie"</dc:title>
  <dc:subject>Lecture Notes</dc:subject>
  <dc:creator>Audio Notes Pipeline</dc:creator>
  <cp:lastModifiedBy>Audio Notes Pipeline</cp:lastModifiedBy>
  <cp:revision>1</cp:revision>
  <dcterms:created xsi:type="dcterms:W3CDTF">2026-03-10T20:31:36Z</dcterms:created>
  <dcterms:modified xsi:type="dcterms:W3CDTF">2026-03-10T20:31:36Z</dcterms:modified>
</cp:coreProperties>
</file>