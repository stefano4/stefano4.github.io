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2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1A1A"/>
          </a:solidFill>
          <a:ln w="12700">
            <a:solidFill>
              <a:srgbClr val="8B1A1A"/>
            </a:solidFill>
            <a:prstDash val="solid"/>
          </a:ln>
        </p:spPr>
      </p:sp>
      <p:sp>
        <p:nvSpPr>
          <p:cNvPr id="3" name="Text 1"/>
          <p:cNvSpPr/>
          <p:nvPr/>
        </p:nvSpPr>
        <p:spPr>
          <a:xfrm>
            <a:off x="640080" y="822960"/>
            <a:ext cx="7863840" cy="2377440"/>
          </a:xfrm>
          <a:prstGeom prst="rect">
            <a:avLst/>
          </a:prstGeom>
          <a:noFill/>
          <a:ln/>
          <a:effectLst>
            <a:outerShdw sx="100000" sy="100000" kx="0" ky="0" algn="bl" rotWithShape="0" blurRad="101600" dist="38100" dir="8100000">
              <a:srgbClr val="000000">
                <a:alpha val="18000"/>
              </a:srgbClr>
            </a:outerShdw>
          </a:effectLst>
        </p:spPr>
        <p:txBody>
          <a:bodyPr wrap="square" rtlCol="0" anchor="t"/>
          <a:lstStyle/>
          <a:p>
            <a:pPr algn="l" indent="0" marL="0">
              <a:buNone/>
            </a:pPr>
            <a:r>
              <a:rPr lang="en-US" sz="4200" b="1" dirty="0">
                <a:solidFill>
                  <a:srgbClr val="F5EFE0"/>
                </a:solidFill>
                <a:latin typeface="Georgia" pitchFamily="34" charset="0"/>
                <a:ea typeface="Georgia" pitchFamily="34" charset="-122"/>
                <a:cs typeface="Georgia" pitchFamily="34" charset="-120"/>
              </a:rPr>
              <a:t>Definizione dei termini chiave</a:t>
            </a:r>
            <a:endParaRPr lang="en-US" sz="4200" dirty="0"/>
          </a:p>
        </p:txBody>
      </p:sp>
      <p:sp>
        <p:nvSpPr>
          <p:cNvPr id="4" name="Shape 2"/>
          <p:cNvSpPr/>
          <p:nvPr/>
        </p:nvSpPr>
        <p:spPr>
          <a:xfrm>
            <a:off x="640080" y="3200400"/>
            <a:ext cx="4114800" cy="50292"/>
          </a:xfrm>
          <a:prstGeom prst="rect">
            <a:avLst/>
          </a:prstGeom>
          <a:solidFill>
            <a:srgbClr val="8B1A1A"/>
          </a:solidFill>
          <a:ln w="12700">
            <a:solidFill>
              <a:srgbClr val="8B1A1A"/>
            </a:solidFill>
            <a:prstDash val="solid"/>
          </a:ln>
        </p:spPr>
      </p:sp>
      <p:sp>
        <p:nvSpPr>
          <p:cNvPr id="5" name="Text 3"/>
          <p:cNvSpPr/>
          <p:nvPr/>
        </p:nvSpPr>
        <p:spPr>
          <a:xfrm>
            <a:off x="6858000" y="4800600"/>
            <a:ext cx="2103120" cy="228600"/>
          </a:xfrm>
          <a:prstGeom prst="rect">
            <a:avLst/>
          </a:prstGeom>
          <a:noFill/>
          <a:ln/>
        </p:spPr>
        <p:txBody>
          <a:bodyPr wrap="square" rtlCol="0" anchor="ctr"/>
          <a:lstStyle/>
          <a:p>
            <a:pPr algn="r" indent="0" marL="0">
              <a:buNone/>
            </a:pPr>
            <a:r>
              <a:rPr lang="en-US" sz="800" dirty="0">
                <a:solidFill>
                  <a:srgbClr val="6B5040"/>
                </a:solidFill>
                <a:latin typeface="Calibri" pitchFamily="34" charset="0"/>
                <a:ea typeface="Calibri" pitchFamily="34" charset="-122"/>
                <a:cs typeface="Calibri" pitchFamily="34" charset="-120"/>
              </a:rPr>
              <a:t>Audio Notes Pipeline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Definizione dei termini chiave</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**Storia (senso lato)**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Definizione: narrazione sistematica dei viventi umani, comprensiva di eventi politico-luttuosi, esposizione critica dei fatti.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Contesto: utilizzato per storia della letteratura, storia dell'arte, storia del cinema.</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**Storia (senso stretto)**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Definizione: narrazione di un fatto particolare, racconto, novella, treccio.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Esempi: novella, racconto.</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**Show story**</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Termine usato in italiano (ma non standard) per indicare racconti brevi.</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Origini del romanzo storico italiano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**Periodo e autori fondatori**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1800: Foscolo (1802) con L'ultimo dei Jacopo Ortis.</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1827-1840: Alessandro Manzoni con I Promessi Sposi (1827) e La Quarta (1840).</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**Elementi caratterizzanti**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Verosimiglianza: l'opera deve essere verosimile, anche se contiene elementi fictional.</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Utilità morale: il romanzo deve insegnare valori e promuovere un'identità collettiva.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Popolarità: l'opera deve essere leggibile e accessibile a un pubblico ampio (non "bassa" o "trash").</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Tre fondamenti del romanzo storico (secondo Manzoni)</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Vero per soggetto: l'opera deve trattare argomenti veri e storici.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Utile per il scopo: il romanzo deve avere un fine morale, formare valori condivisi.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Interessante per mezzo: l'opera deve essere leggibile e coinvolgente.</a:t>
            </a:r>
            <a:endParaRPr lang="en-US" sz="1400" dirty="0"/>
          </a:p>
        </p:txBody>
      </p:sp>
      <p:sp>
        <p:nvSpPr>
          <p:cNvPr id="6" name="Shape 4"/>
          <p:cNvSpPr/>
          <p:nvPr/>
        </p:nvSpPr>
        <p:spPr>
          <a:xfrm>
            <a:off x="320040" y="4137660"/>
            <a:ext cx="8641080" cy="868680"/>
          </a:xfrm>
          <a:prstGeom prst="rect">
            <a:avLst/>
          </a:prstGeom>
          <a:solidFill>
            <a:srgbClr val="8B1A1A">
              <a:alpha val="12000"/>
            </a:srgbClr>
          </a:solidFill>
          <a:ln w="19050">
            <a:solidFill>
              <a:srgbClr val="8B1A1A"/>
            </a:solidFill>
            <a:prstDash val="solid"/>
          </a:ln>
        </p:spPr>
      </p:sp>
      <p:sp>
        <p:nvSpPr>
          <p:cNvPr id="7" name="Text 5"/>
          <p:cNvSpPr/>
          <p:nvPr/>
        </p:nvSpPr>
        <p:spPr>
          <a:xfrm>
            <a:off x="457200" y="4192524"/>
            <a:ext cx="8412480" cy="758952"/>
          </a:xfrm>
          <a:prstGeom prst="rect">
            <a:avLst/>
          </a:prstGeom>
          <a:noFill/>
          <a:ln/>
        </p:spPr>
        <p:txBody>
          <a:bodyPr wrap="square" rtlCol="0" anchor="ctr"/>
          <a:lstStyle/>
          <a:p>
            <a:pPr algn="ctr" indent="0" marL="0">
              <a:buNone/>
            </a:pPr>
            <a:r>
              <a:rPr lang="en-US" sz="1200" i="1" dirty="0">
                <a:solidFill>
                  <a:srgbClr val="8B1A1A"/>
                </a:solidFill>
                <a:latin typeface="Georgia" pitchFamily="34" charset="0"/>
                <a:ea typeface="Georgia" pitchFamily="34" charset="-122"/>
                <a:cs typeface="Georgia" pitchFamily="34" charset="-120"/>
              </a:rPr>
              <a:t>""Il romanzo storico è un componimento, visto di storia e invenzione. Vero per soggetto, utile per il</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scopo, interessante per mezzo." – Alessandro Manzoni, 1823."</a:t>
            </a:r>
            <a:endParaRPr lang="en-US" sz="1200" dirty="0"/>
          </a:p>
        </p:txBody>
      </p:sp>
      <p:sp>
        <p:nvSpPr>
          <p:cNvPr id="8" name="Text 6"/>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Autori chiave e opere</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**Alessandro Manzoni**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 Promessi Sposi (1827): romanzo storico che presenta tre passaggi essenziali.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La Quarta (1840): edizione con appendice Storia della colonna infame.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Influenza: ha influenzato la cultura italiana, con l'idea di un'identità nazionale.</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**Sebastiano Vassalli**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Opere principali: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La Chimera (2003): ambientato tra fine 1800 e fine 1900, con riferimenti al Monte Rosa.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Cigno (1993): ambientato in Sicilia, negli anni 1800-1900.</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Analisi di *La Chimera* di Sebastiano Vassalli</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Titolo: La Chimera (2003).</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Ambientazione: paesaggio inimmaginabile, riferimento al Monte Rosa (simbolo chimico).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Tema: riflessione sulla storia come metafora del presente.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Tecnica narrativa: narratore esterno che commenta la società con una riflessione critica.</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Crisi del romanzo storico nel Novecento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Controversia: alcuni critici sostengono una crisi del romanzo storico nel Novecento.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Risposta: autori come Vassalli dimostrano che il genere è vivo e in buona salute.</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Conclusioni</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romanzo storico italiano è un genere che si è sviluppato in modo continuo, con un'importante funzione educativa e critica.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L'obiettivo principale è la verosimiglianza, l'utilità morale e la popolarità.</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Avoiding any first-person, and ensuring that all names are corrected.</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Appunti di Filosofia della Letteratura: Il Romanzo Storico Italiano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**Definizione dei termini chiave**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Definizione: narrazione sistematica dei viventi umani, comprensiva di eventi politico-luttuosi, esposizione critica dei fatti.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Contesto d’uso: utilizzato per indicare la storia della letteratura, della cultura, dell’arte e del cinema.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Definizione: narrazione di un fatto particolare, racconto, novella, treccio.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Esempi: novella, racconto, romanzo.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Note: termine non standardizzato in italiano, utilizzato per distinguere la narrazione breve (novella, racconto) da quella più ampia (romanzo).</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**Origini del romanzo storico italiano**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1802: Giovanni Foscolo con L’ultimo dei Jacopo Ortis (primo romanzo storico italiano con caratteristiche di narrazione sistematica).</a:t>
            </a:r>
            <a:endParaRPr lang="en-US" sz="1400" dirty="0"/>
          </a:p>
        </p:txBody>
      </p:sp>
      <p:sp>
        <p:nvSpPr>
          <p:cNvPr id="6" name="Shape 4"/>
          <p:cNvSpPr/>
          <p:nvPr/>
        </p:nvSpPr>
        <p:spPr>
          <a:xfrm>
            <a:off x="320040" y="4137660"/>
            <a:ext cx="8641080" cy="868680"/>
          </a:xfrm>
          <a:prstGeom prst="rect">
            <a:avLst/>
          </a:prstGeom>
          <a:solidFill>
            <a:srgbClr val="8B1A1A">
              <a:alpha val="12000"/>
            </a:srgbClr>
          </a:solidFill>
          <a:ln w="19050">
            <a:solidFill>
              <a:srgbClr val="8B1A1A"/>
            </a:solidFill>
            <a:prstDash val="solid"/>
          </a:ln>
        </p:spPr>
      </p:sp>
      <p:sp>
        <p:nvSpPr>
          <p:cNvPr id="7" name="Text 5"/>
          <p:cNvSpPr/>
          <p:nvPr/>
        </p:nvSpPr>
        <p:spPr>
          <a:xfrm>
            <a:off x="457200" y="4192524"/>
            <a:ext cx="8412480" cy="758952"/>
          </a:xfrm>
          <a:prstGeom prst="rect">
            <a:avLst/>
          </a:prstGeom>
          <a:noFill/>
          <a:ln/>
        </p:spPr>
        <p:txBody>
          <a:bodyPr wrap="square" rtlCol="0" anchor="ctr"/>
          <a:lstStyle/>
          <a:p>
            <a:pPr algn="ctr" indent="0" marL="0">
              <a:buNone/>
            </a:pPr>
            <a:r>
              <a:rPr lang="en-US" sz="1200" i="1" dirty="0">
                <a:solidFill>
                  <a:srgbClr val="8B1A1A"/>
                </a:solidFill>
                <a:latin typeface="Georgia" pitchFamily="34" charset="0"/>
                <a:ea typeface="Georgia" pitchFamily="34" charset="-122"/>
                <a:cs typeface="Georgia" pitchFamily="34" charset="-120"/>
              </a:rPr>
              <a:t>"**"Il romanzo storico è un componimento, visto di storia e invenzione. Vero per soggetto, utile per</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il scopo, interessante per mezzo."** – Alessandro Manzoni, *Lettera a Cesare d’Azeglio* (1823)."</a:t>
            </a:r>
            <a:endParaRPr lang="en-US" sz="1200" dirty="0"/>
          </a:p>
        </p:txBody>
      </p:sp>
      <p:sp>
        <p:nvSpPr>
          <p:cNvPr id="8" name="Text 6"/>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208"/>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algn="ctr" indent="0" marL="0">
              <a:buNone/>
            </a:pPr>
            <a:r>
              <a:rPr lang="en-US" sz="1000" spc="400" kern="0" dirty="0">
                <a:solidFill>
                  <a:srgbClr val="6B5040"/>
                </a:solidFill>
                <a:latin typeface="Calibri" pitchFamily="34" charset="0"/>
                <a:ea typeface="Calibri" pitchFamily="34" charset="-122"/>
                <a:cs typeface="Calibri" pitchFamily="34" charset="-120"/>
              </a:rPr>
              <a:t>CONCLUSIONE</a:t>
            </a:r>
            <a:endParaRPr lang="en-US" sz="1000" dirty="0"/>
          </a:p>
        </p:txBody>
      </p:sp>
      <p:sp>
        <p:nvSpPr>
          <p:cNvPr id="3" name="Text 1"/>
          <p:cNvSpPr/>
          <p:nvPr/>
        </p:nvSpPr>
        <p:spPr>
          <a:xfrm>
            <a:off x="548640" y="685800"/>
            <a:ext cx="8046720" cy="3200400"/>
          </a:xfrm>
          <a:prstGeom prst="rect">
            <a:avLst/>
          </a:prstGeom>
          <a:noFill/>
          <a:ln/>
          <a:effectLst>
            <a:outerShdw sx="100000" sy="100000" kx="0" ky="0" algn="bl" rotWithShape="0" blurRad="101600" dist="38100" dir="8100000">
              <a:srgbClr val="000000">
                <a:alpha val="18000"/>
              </a:srgbClr>
            </a:outerShdw>
          </a:effectLst>
        </p:spPr>
        <p:txBody>
          <a:bodyPr wrap="square" rtlCol="0" anchor="ctr"/>
          <a:lstStyle/>
          <a:p>
            <a:pPr algn="ctr" indent="0" marL="0">
              <a:buNone/>
            </a:pPr>
            <a:r>
              <a:rPr lang="en-US" sz="2600" dirty="0">
                <a:solidFill>
                  <a:srgbClr val="F5EFE0"/>
                </a:solidFill>
                <a:latin typeface="Georgia" pitchFamily="34" charset="0"/>
                <a:ea typeface="Georgia" pitchFamily="34" charset="-122"/>
                <a:cs typeface="Georgia" pitchFamily="34" charset="-120"/>
              </a:rPr>
              <a:t>**Contesto storico e simbolismo dell'opera**</a:t>
            </a:r>
            <a:endParaRPr lang="en-US" sz="2600" dirty="0"/>
          </a:p>
          <a:p>
            <a:pPr algn="ctr" indent="0" marL="0">
              <a:buNone/>
            </a:pPr>
            <a:endParaRPr lang="en-US" sz="2600" dirty="0"/>
          </a:p>
          <a:p>
            <a:pPr algn="ctr" indent="0" marL="0">
              <a:buNone/>
            </a:pPr>
            <a:r>
              <a:rPr lang="en-US" sz="2600" dirty="0">
                <a:solidFill>
                  <a:srgbClr val="F5EFE0"/>
                </a:solidFill>
                <a:latin typeface="Georgia" pitchFamily="34" charset="0"/>
                <a:ea typeface="Georgia" pitchFamily="34" charset="-122"/>
                <a:cs typeface="Georgia" pitchFamily="34" charset="-120"/>
              </a:rPr>
              <a:t>La Chimera (1970) prende il titolo da "punta rosa" e si ambienta in un paesaggio "chimesco" (onirico), simbolizzato dal Monte Rosa, descritto come "macino bianco" da lontano. L'ambientazione è legata al villaggio di Zardino, un luogo immaginario che non esiste più e che è stato "spazzato via dalla piena nel fiume" (distrutto da un fiume nel contesto storico del Seicento). L'immagine del Monte Rosa, vista da lontano verso le nuvole, rappresenta un'interpretazione chimesca del paesaggio, un elemento chiave nella riflessione sulla relazione tra passato e presente.</a:t>
            </a:r>
            <a:endParaRPr lang="en-US" sz="2600" dirty="0"/>
          </a:p>
          <a:p>
            <a:pPr algn="ctr" indent="0" marL="0">
              <a:buNone/>
            </a:pPr>
            <a:endParaRPr lang="en-US" sz="2600" dirty="0"/>
          </a:p>
          <a:p>
            <a:pPr algn="ctr" indent="0" marL="0">
              <a:buNone/>
            </a:pPr>
            <a:r>
              <a:rPr lang="en-US" sz="2600" dirty="0">
                <a:solidFill>
                  <a:srgbClr val="F5EFE0"/>
                </a:solidFill>
                <a:latin typeface="Georgia" pitchFamily="34" charset="0"/>
                <a:ea typeface="Georgia" pitchFamily="34" charset="-122"/>
                <a:cs typeface="Georgia" pitchFamily="34" charset="-120"/>
              </a:rPr>
              <a:t>**Cronologia e trama principale**</a:t>
            </a:r>
            <a:endParaRPr lang="en-US" sz="2600" dirty="0"/>
          </a:p>
        </p:txBody>
      </p:sp>
      <p:sp>
        <p:nvSpPr>
          <p:cNvPr id="4" name="Shape 2"/>
          <p:cNvSpPr/>
          <p:nvPr/>
        </p:nvSpPr>
        <p:spPr>
          <a:xfrm>
            <a:off x="2286000" y="4137660"/>
            <a:ext cx="4572000" cy="50292"/>
          </a:xfrm>
          <a:prstGeom prst="rect">
            <a:avLst/>
          </a:prstGeom>
          <a:solidFill>
            <a:srgbClr val="8B1A1A"/>
          </a:solidFill>
          <a:ln w="12700">
            <a:solidFill>
              <a:srgbClr val="8B1A1A"/>
            </a:solidFill>
            <a:prstDash val="solid"/>
          </a:ln>
        </p:spPr>
      </p:sp>
      <p:sp>
        <p:nvSpPr>
          <p:cNvPr id="5" name="Text 3"/>
          <p:cNvSpPr/>
          <p:nvPr/>
        </p:nvSpPr>
        <p:spPr>
          <a:xfrm>
            <a:off x="640080" y="4229100"/>
            <a:ext cx="7863840" cy="685800"/>
          </a:xfrm>
          <a:prstGeom prst="rect">
            <a:avLst/>
          </a:prstGeom>
          <a:noFill/>
          <a:ln/>
        </p:spPr>
        <p:txBody>
          <a:bodyPr wrap="square" rtlCol="0" anchor="ctr"/>
          <a:lstStyle/>
          <a:p>
            <a:pPr algn="ctr" indent="0" marL="0">
              <a:buNone/>
            </a:pPr>
            <a:r>
              <a:rPr lang="en-US" sz="1300" i="1" dirty="0">
                <a:solidFill>
                  <a:srgbClr val="6B5040"/>
                </a:solidFill>
                <a:latin typeface="Calibri" pitchFamily="34" charset="0"/>
                <a:ea typeface="Calibri" pitchFamily="34" charset="-122"/>
                <a:cs typeface="Calibri" pitchFamily="34" charset="-120"/>
              </a:rPr>
              <a:t>"*"Dalle finestre di questa casa si vede nulla"*"</a:t>
            </a:r>
            <a:endParaRPr lang="en-US" sz="13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Definizione dei termini chiave</dc:title>
  <dc:subject>Lecture Notes</dc:subject>
  <dc:creator>Audio Notes Pipeline</dc:creator>
  <cp:lastModifiedBy>Audio Notes Pipeline</cp:lastModifiedBy>
  <cp:revision>1</cp:revision>
  <dcterms:created xsi:type="dcterms:W3CDTF">2026-03-11T00:56:23Z</dcterms:created>
  <dcterms:modified xsi:type="dcterms:W3CDTF">2026-03-11T00:56:23Z</dcterms:modified>
</cp:coreProperties>
</file>